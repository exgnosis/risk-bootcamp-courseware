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A910E12-7A65-4BE0-911F-7A9BF878ED71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D037C7E-E22D-49A2-B7DE-BC3B01BA1D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66C4E39-9ECD-4AB3-83F2-DCEAE62B1E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41F03C-9D7C-4D28-9E40-82D346E697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EFCFCE-63B4-43AC-BDA7-427448F237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DFBDE4-BBB9-43EC-B820-A0C7520445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CABBD2-009E-409D-82F0-76368F73C5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20EE5B-6A34-47A8-B1D5-D9AFC581CD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5855DB-8B15-493A-98D8-FBDF24FE76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EBBED9-9889-4157-9893-477D44453A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C6F9EB-9E57-48E9-A98D-F4D7971578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83337B-B280-487C-A687-FE5E31F47B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4379F1-F0EF-4096-A8EB-1647633E26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6BF4A0-38CC-4B0D-B942-32B071577D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4C9B9A-EE25-4542-847E-EDAB0A3B42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5E8540-3674-4933-BDBF-E1C9E36B7E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04CE83-760A-45AE-B0CD-AEC1567F48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2F1758-0187-40AA-8D63-BFAAA7174A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4F144F-6F8E-4D16-AFF8-67BB76CD98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A31878F-3F25-4897-AA6C-75897F0E06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1F26E1-D8B8-40EC-87A7-39C260A387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2A144C-9360-4222-BBCB-7D9C6ED1ED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070615-DBAF-4F37-AFE2-1D568778DC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03D97C-C9DB-4A35-8BDF-E194816DFE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069A96-F775-40BD-80F7-C7E546314A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23F95F3-A45A-47DE-9F18-532CF49ACE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9462A0-2862-4170-8D09-E87F3AB58A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875E85A-FFCE-4B18-989E-F662967DEF6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CFABD1D-CB93-4FFC-AA7E-A5B8209B0A82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D56CC9-A920-4264-A67A-6003B7C5376A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EF38A6-B9A8-4FD4-A675-448C17E34DB4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F2799C-2FB8-45E7-AAA2-4726D8537D48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179A01-069E-40FA-B235-CAD661046BF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C45950-7CFD-4023-9D5A-1C5C10A11CC3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157C30-E394-4191-BDC9-5D4AC1401C50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75802E6-B3E7-4B2A-93C6-7DC2B5E2D38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267035-C5CD-417A-9B63-06A7CCEC6CEB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44ED230-D45F-4842-B652-376148B43975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222975A-8D2A-4C2E-9138-E534976E389B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9646A99-83F1-4695-8FE8-D69BCC7C861A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9798B8A-F23B-4015-BF40-98A51AAB550B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A46B36-B357-4FD2-99F2-414712FE7944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0F66F2C-E482-486A-8079-9A4285854361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D025CAD-B1C1-4EE1-9F86-375AF63909F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6529168-1434-45B9-B904-F3736CBF5D8E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64817CC-721C-4744-A11A-A066C39C77A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2DC71AF-DBF4-44A2-8A78-9FB4511CF068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2358DFE-25EC-4851-A122-7BA30A674090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D261564-1752-4D9A-B267-136CCC0A2B3F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FF58FDB-3474-46A8-8F0E-985027367B2B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9F91AA3-04EE-4DED-9B82-50AB0724FCB7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04FD48F-6930-447F-870D-99017271B9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2C20669-CED8-4576-A087-DB8BA03CB3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EC0C8C-3150-41E3-B26F-C96A006D86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BE4E98E-CE99-474F-9657-EC0FFC19FE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36E2DEB-F8C7-4763-BDBD-C7023186A2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53BFB9-F2DB-46E1-92B7-3D445DF240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FF69683-CEB9-4B95-8039-4BCDA6153C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7320C5-F0EA-4B48-84FB-2C577C2D98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C56E678-473F-4E38-BDE8-7A94C04F52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EDB4332-50B4-4439-B679-E2FCBB6D9A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B8E77E-AA90-44DF-A71C-FD6B1B1C19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9BECA87-D985-453F-AC69-2ED9719036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D4AADF-1582-4F34-B128-17E13CAC35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905EC06-D35C-413F-B3DC-0EC4545A66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40686E-A4CC-444B-B9B5-687E36C22E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C1FB650-BD8B-4EDF-95CA-91C84702AD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36D9E97-23AB-474E-9595-2F1B234BF8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0B794C8-F012-468D-8477-57F374FC10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FB14953-AFEC-4425-8571-47A61702FA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E40AF9E-ED71-4B90-B152-F8C50CBE0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B42C26F-E2AA-43BB-8205-188CF5259C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683D6C-8644-4B34-84DE-946239F41A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A750C7C-8858-4AA9-8E52-8D18AB5106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A8124A5-ED2C-4C3C-B53A-154AB3E645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18A3712-0DAD-4C76-A34F-1836526F89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F4E835D-AEE7-4FC5-A7E7-4355B6259A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293FDEA-1D8F-4DE0-A5F3-B6B7E7481B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6A981BE-36E2-46F2-883E-F9BA3DFD25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3F024FC4-3475-4AAF-BA72-4E38A4CA12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A6494C8-6EAD-4A12-88A9-D183775AF6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6A96AF8-FC3F-4E65-BDB9-CD000BC886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8AA09A5-6E51-4931-98BC-6FB9E2A8ED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DCE02C7-CF7D-477C-AF47-B35D32311F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995E37E-C804-4A66-81F4-A9752756E6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CD41BC09-0EDA-49CA-91F0-901A6F7984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F87A10A9-AFA2-475B-B415-1FC4A8C946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55744C63-726A-40D2-910B-4F9AE390D7CC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7118D1EF-74F9-465B-962A-C7BBCE803042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42849751-EA34-45EB-B662-450AA26D00B6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BE430747-1059-4001-9472-1E8C64BEDC18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6DB26B1-0A22-4E75-B2D3-3FF9532B7C31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C0FAD12-831F-490B-8AEE-8FD0A19A62EA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D20C753B-09C5-4B33-808F-F3C7E451C95B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Risk Response Strategies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CA" sz="2000" spc="-1" strike="noStrike">
                <a:latin typeface="Nirmala UI Semilight"/>
              </a:rPr>
              <a:t>This module is an introduction to the standard risk response strategies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Avoid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Mitigate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Transfer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Accept</a:t>
            </a:r>
            <a:endParaRPr b="0" lang="en-CA" sz="16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600" spc="-1" strike="noStrike">
              <a:latin typeface="Nirmala UI Semilight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7336440" y="1546920"/>
            <a:ext cx="3969720" cy="4171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Response Strategies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ISACA-aligned risk response strategies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Represent how an organization chooses to treat a risk after it has been analyzed and prioritized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Avoid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Eliminate the activity creating the risk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Shut down an insecure legacy application instead of repeatedly patching it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Discontinue a feature that consistently creates compliance violations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Response Strategies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Mitigate (reduce)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Implement controls or redesign processes to reduce the likelihood or impact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Add MFA to reduce unauthorized access risk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Strengthen monitoring and alerting for high-value transactions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Transfer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Shift the financial or operational consequences to a third party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Cyber insurance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Outsourcing to a cloud provider with contractual SLAs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Response Strategies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Accept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Acknowledge the risk and monitor it, but take no immediate action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Appropriate when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Risk falls within the organization’s risk appetite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Cost of mitigation outweighs value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residual risk is low or unlikely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Decision considerations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Alignment with risk appetite and tolerance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Cost-benefit analysis of controls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Impact to business objectives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Time required to implement mitigation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Response Strategies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Defines the organization’s deliberate posture toward prioritized risks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After assessment of likelihood, impact, velocity, and systemic interdependencies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These are aligned with standards like ISACA, COBIT, NIST RMF, and ISO 31000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 mature risk programs response selection is not merely a control decision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Instead, it is an integrated business decision incorporating governance mandates, financial constraints, regulatory expectations, and the organization’s risk culture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Effective response selection requires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Rigorous evaluation of trade-offs between operational continuity, resilience, cost, regulatory exposure, and long-term strategic positioning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Understanding that risks often interact, accumulate, and cascade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means responses must consider systemic rather than just isolated effects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Avoidance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Seeks to eliminate the conditions that create exposure by discontinuing or altering the underlying activity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Often most definitive response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Also the most disruptive, because it might require material change to business operations or product strategy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Strategic justification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High-impact or existential risks that exceed organizational tolerance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systemic fraud vulnerabilities in a business line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Unbounded risk scenarios where uncertainty is too high to quantify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unknown security posture of unsupported third-party software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Non-negotiable regulatory compliance gaps where remediation is impractical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Avoidance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Considerations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Opportunity cost analysis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Avoidance may remove both risks and revenue streams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Mature organizations evaluate net portfolio risk reduction versus foregone profit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Avoiding the risk may be more costly than accepting it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Legacy modernization decisions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Decommissioning insecure legacy platforms may introduce transition risks and significant migration costs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impact of these two strategies has to be compared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Long-term architectural strategy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Avoidance supports strategic simplification initiatives 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Forces migration to a new less risky or less complex IT architecture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Replacing the risky systems with a newer low risk variation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Avoidance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Examples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Terminating an entire data pipeline that handles sensitive information in a jurisdiction where new privacy laws make compliance infeasible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Decommissioning custom cryptographic modules after regulatory assessments reveal unfixable design flaws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Mitigation (Reduction)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Focuses on reducing either likelihood or impact, or both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Through targeted controls, process engineering, and architectural redesign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reduction is the most common strategy due to its flexibility and ability to preserve business capabilities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When it is the optimal response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Risks that can be reduced to within tolerance with feasible controls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High-frequency operational risks where small improvements yield cumulative benefits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Complex risks arising from human factors, process weaknesses, or inadequate monitoring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Mitigation (Reduction)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Considerations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 effectiveness modeling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Mature organizations evaluate mitigation using residual risk curves, control strength ratings, and compensating control structures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Defence-in-depth composition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Mitigation often involves layered controls (preventive + detective + corrective)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Process resilience engineering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Rather than placing controls on individual steps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entire process may be redesigned for resilience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eliminating manual hand offs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Automation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Automated containment and real-time remediation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Can leverage machine learning and orchestration engines to reduce response time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Transfer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Reallocates the financial, operational, or legal burden of the risk to another entity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Often retaining partial oversight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Transfer does not eliminate the underlying risk; it redistributes accountability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Effective when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risk is more efficiently managed by a specialized external provider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 cloud hyperscalers 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Financial exposure can be shifted through insurance or indemnification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Contractual relationships allow risk-sharing across partners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Transfer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Considerations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Shared responsibility models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Cloud environments complicate transfer because control boundaries are distributed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Misalignment in understanding these boundaries is itself a risk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capital optimization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CFO and risk functions may analyze transfer through capital allocation models, optimizing insurance coverage against self-insurance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Vendor concentration risk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Excessive reliance on a single vendor introduces systemic exposure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May outweigh the benefits of transfer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Legal and regulatory transfer constraints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Certain risks, like  data protection obligations under GDPR, cannot be fully transferred even contractually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Transfer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Examples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Structuring a cyber liability insurance program with tiered deductibles and rider coverage for regulatory fines, breach response, and forensic costs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Outsourcing cryptographic key management to a certified HSM provider with validated compliance frameworks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Entering a co-managed security operations center arrangement where operational risk is shared, but governance and oversight remain internal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Acceptance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Acknowledges that the organization intentionally retains the risk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Often with a plan for heightened monitoring or periodic reassessment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Mature acceptance is not passive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It is a deliberate business decision supported by evidence and aligned with risk appetite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Acceptance rationale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Residual risk after mitigation falls within tolerated levels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risk is intrinsic to strategic innovation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 new markets, emerging technology adoption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Controls are too costly relative to the expected loss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is low-likelihood, low-impact, or both, and adequately monitored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Acceptance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Considerations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Documented governance sign-off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Acceptance typically requires senior management or risk committee approval and periodic review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Conditional acceptance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Accepted risks may convert to “trigger-based responses” if KRIs exceed thresholds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Portfolio balancing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Risk acceptance in one area may require enhanced mitigation elsewhere to maintain overall risk equilibrium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Shadow risks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Organizations must guard against the accumulation of “accepted but unmonitored” risks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Acceptance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Examples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Accepting the residual risk of using a near-end-of-life system temporarily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Acceptable during a multi-year transformation program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But with compensating detective controls.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During the adoption of Infrastructure-as-Code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Accepting the risk of increased operational incidents 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Balanced against the benefit of improving long-term agility and reducing configuration drift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Selecting the Optimal Strategy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Risk response selection is guided by structured decision tools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Alignment with risk appetite and tolerance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Appetite statements translate strategic objectives into measurable tolerances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 maximum accepted downtime per quarter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Responses must align with these thresholds while balancing innovation and safety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Cost-benefit and value realization analysis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Includes direct control costs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Long-term operational simplification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Resilience improvements 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Avoided losses.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goal is not minimizing risk, but maximizing value relative to risk exposure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Selecting the Optimal Strategy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86000" y="1024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Impact on business capabilities and strategic planning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Decisions must consider architectural implications, future scalability, and interdependencies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 mitigation that stifles innovation may be more harmful than accepting the risk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Implementation time, complexity, and risk velocity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High-velocity threats like zero-day exploitation may require temporary acceptance with compensating controls until mitigation is feasible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Slow-moving risks like technical debt accumulation may justify longer-term mitigation programs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Regulatory and compliance constraints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Some risks cannot be accepted due to legal obligations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Transfer mechanisms may be insufficient to satisfy regulatory requirements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Systemic and cascading impact evaluations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Response strategies must account for second-order effects across interconnected systems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Example: Avoiding a vulnerable service may unintentionally increase load on another system, raising new risks.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58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170129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2025-11-18T20:40:20Z</cp:lastPrinted>
  <dcterms:modified xsi:type="dcterms:W3CDTF">2025-12-18T13:56:57Z</dcterms:modified>
  <cp:revision>9180</cp:revision>
  <dc:subject>Risk Bootcamp</dc:subject>
  <dc:title>1. Risk Response Strategies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