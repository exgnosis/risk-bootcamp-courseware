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1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x="12192000" cy="6858000"/>
  <p:notesSz cx="7010400" cy="9296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move the slide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2000" spc="-1" strike="noStrike">
                <a:latin typeface="Arial"/>
              </a:rPr>
              <a:t>Click to edit the notes format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1400" spc="-1" strike="noStrike">
                <a:latin typeface="Times New Roman"/>
              </a:rPr>
              <a:t>&lt;header&gt;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dt" idx="2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ftr" idx="2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5" name="PlaceHolder 6"/>
          <p:cNvSpPr>
            <a:spLocks noGrp="1"/>
          </p:cNvSpPr>
          <p:nvPr>
            <p:ph type="sldNum" idx="2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D25167F-56BB-4138-A263-2012D434D230}" type="slidenum">
              <a:rPr b="0" lang="en-CA" sz="1400" spc="-1" strike="noStrike">
                <a:latin typeface="Times New Roman"/>
              </a:rPr>
              <a:t>&lt;number&gt;</a:t>
            </a:fld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24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A67DE7F-B6E6-4AFA-BCA6-272AAD23CB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Now is the time to engage in an interactive Q&amp;A session where you can ask questions, share insights, and clarify any doubts about the topics we have covered so far.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This open discussion is designed to ensure that every participant has the opportunity to voice their thoughts and learn from the collective experience of the group.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Your questions and comments are valuable as they help us identify areas that may need further explanation and enable us to tailor future sessions to your needs.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We encourage you to speak up and contribute to the dialogue, as this interaction is one of the key components of our interactive learning approach.</a:t>
            </a:r>
            <a:endParaRPr b="0" lang="en-CA" sz="12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Nirmala UI Semilight"/>
              </a:rPr>
              <a:t>As the session progresses, take note of any questions or ideas that you would like to revisit, and feel free to share your perspectives with the class.</a:t>
            </a:r>
            <a:endParaRPr b="0" lang="en-CA" sz="1200" spc="-1" strike="noStrike"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25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71C79DB-7C5A-407A-B20D-0BAC5319D37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B5DA80-409A-4216-9B42-5CD6D3B80E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96E6F7-0EB6-4C8F-AB19-03896593FA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DE62F2-2B1A-48C9-9988-6DC19775AE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4D38C18-9A24-4F40-BCDE-D2CA4712FF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D85033-F99B-42FB-8A7D-038D0CD903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5D8EFC-A2E3-4B40-A465-B3CE0A4D17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2EF6A5-9B46-430E-9435-8C8BB9B0CE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B31FB3-4862-4839-8506-B1CBBD641F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8D9975-9B12-4DEE-9561-E0D3815ED3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D93BE0-E20B-4157-B615-422ECFB57A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D03939-8457-4793-A930-D118D24624D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F51A57-0C4E-4F8E-94D8-9969DD7ADA9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969426A-F331-4BEA-888A-CB27B2C997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09FD833-29FB-4DEA-B8E4-349F3E6C34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1C67C73-94D7-43B9-96F9-1BCCA011C8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9ADC16F-D9F7-470B-B61F-03C5810EEA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D1B9557-5129-4986-B11A-5F5D1D29DC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822AC0B-F606-4478-B8AD-ED2175A197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F55E5F0-A3B3-4754-BC6B-1F356F4F01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8DD358C-8796-486D-A9B3-216FF462FB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DF68694-E93A-4AD9-94B7-8AE642E001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8321EC0-3012-436B-AC54-74FE27D7F4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E1CB3D2-FBC2-4CE3-9F7F-0E4DC1B36C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6BCE257-0F0E-4F93-B677-E9B1D9BBDC2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1BAE32D-5DDA-4D51-BE8C-23D1AEEDA654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0D84024-EA71-41E4-A246-1966BD980393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47AA047-1680-49CF-B146-16EF94609C85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7FCAAE0-F8EB-4110-B0D3-85E0B3262E25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0CCDAF0-171A-4B15-8A9E-6705982E3FBE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738F123-6EA9-478C-BCB3-BDCE7DF7E634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A3C923B-FC8A-44D0-A663-D6A66F634FE2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F381CF5-8131-443C-8AFF-549EF72515F5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5851ED6-7DBD-4448-81D3-80C091D142AB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3C73832-3A21-40B8-A68E-FF17C1F77113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6EC38B8-330A-487E-BC80-E26AE56B2954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2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0469027-E4FE-49DA-AD7F-B49DA5C37821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6F2E6F7-D764-4E80-950A-48325E447ED8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AED3B25-6F54-4473-B57C-5DCD96C53083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7CB49B8-5371-4A35-B211-130CED3134EA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739DA43-7416-4DF1-8947-265B45E66F59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25A14F3-A556-4E9B-9A94-637E6190B71F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4EE086D-3A5D-4C91-9B69-DAE091787A10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8764694-0403-42A7-9AC7-2E023BB88A2A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30EFE94-8074-418F-BA89-747D15999605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4E173F8-132B-4928-967C-0FF1FE20655E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CD157A0-DFB4-4C1B-9E86-185505E336A1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2AC21C5-3BFD-4231-9308-1B612A1C29C4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7361AE6-AF25-4360-A7EB-4CBE8C642EE9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DDEA3C1-53C6-4217-8B83-C947E63977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FB47C17-3CF1-4541-8DBA-54C8F058E2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F61B50E-1FC2-4466-89A0-B04ACE3E64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6FEA5FC-EEFA-4B76-8C43-E8C6E5EEDF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38DA14A-D3F6-4048-8190-4894773A7E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7815B4-30E0-46AC-98BF-613B4FBA0E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690B3CB-C3EC-4B0D-BAB0-30E0DBB9D5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83622AE-C7CD-4283-AD70-3033082715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D74C5B1-1F6A-4126-B5EA-D6E51376D7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E94A694-803D-451E-8011-29BD56FBFC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4244F0A-E65C-4EC2-891D-A2EDD443F31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1EC0CD3-97C7-4BAA-9E92-85FA410EBEB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8097474-6518-410A-80CE-D4944A511B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2029A08-9799-4CB5-863C-DE55C33136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3A5F422-DAA3-4ADF-A4BA-B776BF4AF5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F72C957-9045-40D2-8509-CC1D5776E5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B545C64-32DF-4661-8BD7-3C4E086D2B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9AEB4F7-B795-4517-90CB-28151DCDF0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83AABFF-E85F-40C8-B215-7D24C3AF2C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BDBA944-8EA8-4349-B1CB-AFE5219494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8422653-5316-4DBA-9F91-661CD4997C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B827203-FD58-46E0-A171-B551EAF97A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C285112-CE2B-49F8-8589-57D9993C78C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64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30AC697-CF43-4A4B-8D63-9B6001F6DD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8501F11B-80FB-44B6-9CCD-5991927B58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B384621B-BC64-40D8-9342-58021F6443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B5781A04-CBB3-40DB-A3BC-337D369C83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BD9E0840-1ED4-411F-9102-80C7D71AC6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5FD3188B-BCAB-4311-B569-F327D37185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3FDBB496-673E-44AD-B75A-B3AD499476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FD62FFBD-8DF0-4BF3-B9F0-5786097B51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2E5D67A7-825E-47D1-9F80-EA0CA605AF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8C1AC7D7-2D64-4C93-966F-B69967216F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609480" y="3712320"/>
            <a:ext cx="1015884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4BB39896-88A7-4252-9897-CAA5FE3578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5815080" y="107388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6094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/>
          </p:nvPr>
        </p:nvSpPr>
        <p:spPr>
          <a:xfrm>
            <a:off x="5815080" y="3712320"/>
            <a:ext cx="49572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1CC17E7B-0D21-4C09-B48A-3F1F504F4F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4400" spc="-1" strike="noStrike"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404424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7479360" y="107388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/>
          </p:nvPr>
        </p:nvSpPr>
        <p:spPr>
          <a:xfrm>
            <a:off x="60948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/>
          </p:nvPr>
        </p:nvSpPr>
        <p:spPr>
          <a:xfrm>
            <a:off x="404424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/>
          </p:nvPr>
        </p:nvSpPr>
        <p:spPr>
          <a:xfrm>
            <a:off x="7479360" y="3712320"/>
            <a:ext cx="327096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D4106763-9B4A-4C32-8633-AAC0E31046A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ADA7434F-BBA1-45BF-AD3D-D1B3087C0F84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47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62E50EA4-F534-4935-A765-AFEC91053238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92" name="Straight Connector 8"/>
          <p:cNvCxnSpPr/>
          <p:nvPr/>
        </p:nvCxnSpPr>
        <p:spPr>
          <a:xfrm>
            <a:off x="6663240" y="154116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93" name="PlaceHolder 1"/>
          <p:cNvSpPr>
            <a:spLocks noGrp="1"/>
          </p:cNvSpPr>
          <p:nvPr>
            <p:ph type="ftr" idx="7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8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636E7983-16ED-432A-A342-A3A89297AEAC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ftr" idx="9"/>
          </p:nvPr>
        </p:nvSpPr>
        <p:spPr>
          <a:xfrm>
            <a:off x="44280" y="657432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6a6a6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10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4C7B622D-57D8-4F3C-B3FA-CDB8576CA69D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ftr" idx="1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87537877-9762-4D33-8C06-934A1E3FB713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dt" idx="1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222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ftr" idx="1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sldNum" idx="1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C644D825-7280-4002-9838-61AA08F8227C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228" name="PlaceHolder 6"/>
          <p:cNvSpPr>
            <a:spLocks noGrp="1"/>
          </p:cNvSpPr>
          <p:nvPr>
            <p:ph type="dt" idx="1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6"/>
          <p:cNvSpPr/>
          <p:nvPr/>
        </p:nvSpPr>
        <p:spPr>
          <a:xfrm>
            <a:off x="12001320" y="0"/>
            <a:ext cx="190080" cy="137124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Rectangle 7"/>
          <p:cNvSpPr/>
          <p:nvPr/>
        </p:nvSpPr>
        <p:spPr>
          <a:xfrm>
            <a:off x="12001320" y="1371600"/>
            <a:ext cx="190080" cy="54860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7721280" cy="1371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60" strike="noStrike" cap="all">
                <a:solidFill>
                  <a:srgbClr val="d1282e"/>
                </a:solidFill>
                <a:latin typeface="Arial Black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217440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678672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>
              <a:lnSpc>
                <a:spcPct val="100000"/>
              </a:lnSpc>
              <a:spcBef>
                <a:spcPts val="479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dt" idx="17"/>
          </p:nvPr>
        </p:nvSpPr>
        <p:spPr>
          <a:xfrm>
            <a:off x="609480" y="6172200"/>
            <a:ext cx="4571640" cy="30456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ftr" idx="18"/>
          </p:nvPr>
        </p:nvSpPr>
        <p:spPr>
          <a:xfrm>
            <a:off x="609480" y="6492960"/>
            <a:ext cx="4571640" cy="283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sldNum" idx="19"/>
          </p:nvPr>
        </p:nvSpPr>
        <p:spPr>
          <a:xfrm rot="16200000">
            <a:off x="11188800" y="5824800"/>
            <a:ext cx="1315440" cy="486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fld id="{6C259CB2-29BD-423A-964D-8BE1F7717D24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cxnSp>
        <p:nvCxnSpPr>
          <p:cNvPr id="273" name="Straight Connector 8"/>
          <p:cNvCxnSpPr/>
          <p:nvPr/>
        </p:nvCxnSpPr>
        <p:spPr>
          <a:xfrm>
            <a:off x="6663240" y="1656720"/>
            <a:ext cx="360" cy="444420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5" descr=""/>
          <p:cNvPicPr/>
          <p:nvPr/>
        </p:nvPicPr>
        <p:blipFill>
          <a:blip r:embed="rId1"/>
          <a:stretch/>
        </p:blipFill>
        <p:spPr>
          <a:xfrm>
            <a:off x="0" y="1303920"/>
            <a:ext cx="12191040" cy="6094800"/>
          </a:xfrm>
          <a:prstGeom prst="rect">
            <a:avLst/>
          </a:prstGeom>
          <a:ln w="0">
            <a:noFill/>
          </a:ln>
        </p:spPr>
      </p:pic>
      <p:sp>
        <p:nvSpPr>
          <p:cNvPr id="317" name="PlaceHolder 1"/>
          <p:cNvSpPr>
            <a:spLocks noGrp="1"/>
          </p:cNvSpPr>
          <p:nvPr>
            <p:ph type="ftr" idx="23"/>
          </p:nvPr>
        </p:nvSpPr>
        <p:spPr>
          <a:xfrm>
            <a:off x="9588960" y="127440"/>
            <a:ext cx="2602080" cy="33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“</a:t>
            </a: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Develop a passion for learning.”</a:t>
            </a:r>
            <a:endParaRPr b="0" lang="en-CA" sz="1100" spc="-1" strike="noStrike">
              <a:latin typeface="Times New Roman"/>
            </a:endParaRPr>
          </a:p>
        </p:txBody>
      </p:sp>
      <p:sp>
        <p:nvSpPr>
          <p:cNvPr id="318" name="Text Box 2"/>
          <p:cNvSpPr/>
          <p:nvPr/>
        </p:nvSpPr>
        <p:spPr>
          <a:xfrm>
            <a:off x="58680" y="468000"/>
            <a:ext cx="10306080" cy="12258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7000"/>
              </a:lnSpc>
              <a:spcAft>
                <a:spcPts val="799"/>
              </a:spcAft>
              <a:buNone/>
            </a:pPr>
            <a:r>
              <a:rPr b="0" lang="en-US" sz="3600" spc="-1" strike="noStrike">
                <a:solidFill>
                  <a:srgbClr val="ff0000"/>
                </a:solidFill>
                <a:latin typeface="Gadugi"/>
                <a:ea typeface="Calibri"/>
              </a:rPr>
              <a:t>RISK AND RESILIENCE BOOTCAMP</a:t>
            </a:r>
            <a:br>
              <a:rPr sz="3600"/>
            </a:br>
            <a:endParaRPr b="0" lang="en-CA" sz="3600" spc="-1" strike="noStrike">
              <a:latin typeface="Arial"/>
            </a:endParaRPr>
          </a:p>
        </p:txBody>
      </p:sp>
      <p:sp>
        <p:nvSpPr>
          <p:cNvPr id="319" name="Oval 1"/>
          <p:cNvSpPr/>
          <p:nvPr/>
        </p:nvSpPr>
        <p:spPr>
          <a:xfrm>
            <a:off x="11068920" y="5891760"/>
            <a:ext cx="619200" cy="619200"/>
          </a:xfrm>
          <a:prstGeom prst="ellipse">
            <a:avLst/>
          </a:prstGeom>
          <a:solidFill>
            <a:srgbClr val="7a7a7a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</a:rPr>
              <a:t>4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Risk Responses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r>
              <a:rPr b="0" lang="en-CA" sz="2000" spc="-1" strike="noStrike">
                <a:latin typeface="Nirmala UI Semilight"/>
              </a:rPr>
              <a:t>This module is an overview on risk responses</a:t>
            </a:r>
            <a:endParaRPr b="0" lang="en-CA" sz="2000" spc="-1" strike="noStrike">
              <a:latin typeface="Nirmala UI Semilight"/>
            </a:endParaRPr>
          </a:p>
        </p:txBody>
      </p:sp>
      <p:pic>
        <p:nvPicPr>
          <p:cNvPr id="322" name="" descr=""/>
          <p:cNvPicPr/>
          <p:nvPr/>
        </p:nvPicPr>
        <p:blipFill>
          <a:blip r:embed="rId1"/>
          <a:stretch/>
        </p:blipFill>
        <p:spPr>
          <a:xfrm>
            <a:off x="6748200" y="2176200"/>
            <a:ext cx="5205600" cy="24336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Responses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389880" y="11037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High-maturity risk programs 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Operate on the principle that speed and intelligence in decision-making directly influence the severity and spread of incidents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In modern distributed architectures risk conditions evolve in minutes, not hours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Real-time monitoring and rapid escalation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Ensure that organizations detect anomalies, evaluate them in context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Then mobilize the right resources before risks escalate into operational failures or security breaches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Real-Time Decision Drivers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389880" y="11037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Real-time decisions are not made ad-hoc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They are guided by predefined risk-driven criteria that ensure consistency, compliance, and clear prioritization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Severity classification (SEV-1 to SEV-4)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Organizations classify incidents according to severity levels that determine urgency, staffing, and escalation paths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SEV-1: Critical business-impacting outage or security breach. Required 24/7 immediate response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SEV-2: Major functional impairment affecting customers or key workflows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SEV-3: Limited impact or localized degradation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SEV-4: Low priority; informational or minor anomaly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If authentication API fails → SEV-1 (core service)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If internal reporting dashboard slows → SEV-3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Real-Time Decision Drivers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389880" y="11037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Business impact mapping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Driven by RTO, RPO, and criticality ratings from the BIA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Systems with tight RTO/RPO require faster alerts and escalations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Critical services (payments, trading platforms, identity providers) require immediate action even for small anomalies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Non-critical services tolerate slower response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 200 ms latency spike in a real-time trading platform may trigger SEV-1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 15-minute delay in a batch report may not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Real-Time Decision Drivers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389880" y="11037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KRI thresholds (static and dynamic)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Real-time KRIs use thresholds configured based on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Static values (fixed limits, often regulatory or policy-based)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Dynamic models (baselines, ML anomaly detection, z-scores)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Static: “Any encryption key reaching expiry within 7 days triggers escalation.”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Dynamic: “Alert if login failure rate deviates &gt;3σ from baseline.”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Real-Time Decision Drivers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389880" y="11037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Policy-defined escalations</a:t>
            </a:r>
            <a:endParaRPr b="0" lang="en-CA" sz="2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Policies codify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Who responds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Within what timeframe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What mandatory steps are required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When escalation to senior leadership is required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Which events must be logged for audit purposes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Policies ensure decisions remain consistent, defensible, and compliant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Real-Time Decision Drivers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389880" y="11037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Regulatory reporting triggers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Several regulations require near-real-time notification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NY DFS Part 500: 72-hour notice for material cybersecurity events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GDPR: 72-hour breach reporting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PCI DSS: strict timelines for cardholder data incidents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FFIEC: Operational resilience guidelines for financial institutions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Real-time escalation frameworks must incorporate these deadlines, often requiring automatic flagging when regulatory thresholds are crossed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Real-Time Tools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389880" y="11037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SIEMs 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SIEM event correlation and detection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SIEM = Security Information and Event Management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SIEMs aggregate logs and security events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Detect threats by correlating multiple signals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Identify behavioral anomalies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Trigger alerts when risk conditions exceed tolerance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Combining IAM logs + network patterns can detect detect lateral movement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Real-Time Tools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389880" y="11037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SOAR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Security Orchestration, Automation, and Response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SOAR platforms automate routine responses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Auto-block malicious IPs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Quarantine compromised endpoints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Trigger MFA challenges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Enrich alerts with threat intel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Escalate tickets to ServiceNow automatically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This dramatically reduces MTTR and human workload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Real-Time Tools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389880" y="110376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Live responder mobilization 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Used for: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Immediate on-call paging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Multi-channel alerts (SMS, phone, push)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Automated on-call rotations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Incident commander activation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Critical for SEV-1/SEV-2 incidents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Real-Time Tools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433800" y="10339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Telemetry-driven alerts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Sample tools: CloudWatch, Datadog, Prometheus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These platforms provide: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Real-time metrics (CPU, IOPS, latency)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Distributed tracing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SLO/SLA monitoring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Dynamic alerting based on baselines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They detect operational risk events before they propagate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Real-Time Tools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433800" y="103392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Governance-driven escalation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ServiceNow / Archer GRC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These tools: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Create incident or risk records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Initiate GRC workflows (Governance, Risk, and Compliance)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Manage evidence and documentation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Track compliance-related escalations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Enforce approvals and accountability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They ensure that real-time response is also audit-ready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Escalation Framework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442440" y="100728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high-maturity organization uses structured, hierarchical escalation to ensure the right people are engaged fast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Tier 1:  Initial triage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Performs basic investigation (check logs, validate alerts)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Filters false positives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Assigns provisional severity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Engages Tier 2 if needed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Tier 2 : System/platform SMEs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Deep technical analysis (containers, databases, identity, network)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Offer architecture-level insights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Own resolution of platform-specific issues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Escalation Framework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442440" y="100728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Tier 3: Security analysts / senior engineers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Lead investigation into sophisticated threats (malware, lateral movement, data exfiltration)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Conduct forensic analysis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Coordinate multi-team responses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Make containment or shutdown decisions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Leadership (CIO/CISO)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Required for SEV-1 events and regulatory issues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Decide on customer notifications, public communication, or legal actions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May trigger Business Continuity or Disaster Recovery plans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Regulators, regulatory notification is often mandatory when in a regulated industry there is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Material customer impact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Material data exposure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Loss of key services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Breaches of specific KRIs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Security incidents affecting critical infrastructure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Escalation to regulators is often time-bound and non-negotiable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Real-Time Decision-Making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442440" y="100728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Context-aware alerts - asset criticality integration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Alerts incorporate: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Asset importance (tier-1 vs. tier-3 systems)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Data sensitivity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Business function mapping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 CPU spike on a tier-3 staging server ≠ a CPU spike on a core payments service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Real-Time Decision-Making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442440" y="100728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Dynamic alert suppression (noise reduction)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High-maturity systems automatically suppress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Repeated alerts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Low-value anomalies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Known benign patterns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Flapping metrics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This reduces “alert fatigue” and allows responders to focus on critical signals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Real-Time Decision-Making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442440" y="100728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Threat correlation 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Weak signals may indicate a strong risk event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Multiple low-severity anomalies might indicate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Coordinated attack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Insider threat behavior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Critical system degradation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Misconfigured infrastructure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Examples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Failed logins + unusual IP + privilege escalation attempt might indicate  possible credential compromise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Memory pressure + network latency + container restarts might indicate impending service outage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Real-Time Decision-Making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442440" y="100728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AI-Assisted Decision Support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Advanced platforms apply ML models to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Predict severity based on historical patterns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Suggest probable root causes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Recommend containment actions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Score risk levels in real time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Identify correlated alerts across services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This augments human expertise with intelligent prioritization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10050840" cy="728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60" strike="noStrike" cap="all">
                <a:solidFill>
                  <a:srgbClr val="d1282e"/>
                </a:solidFill>
                <a:latin typeface="Leelawadee UI Semilight"/>
              </a:rPr>
              <a:t>Q&amp;A and open discussion</a:t>
            </a:r>
            <a:endParaRPr b="0" lang="en-CA" sz="3600" spc="-1" strike="noStrike">
              <a:latin typeface="Arial"/>
            </a:endParaRPr>
          </a:p>
        </p:txBody>
      </p:sp>
      <p:pic>
        <p:nvPicPr>
          <p:cNvPr id="358" name="Content Placeholder 2" descr=""/>
          <p:cNvPicPr/>
          <p:nvPr/>
        </p:nvPicPr>
        <p:blipFill>
          <a:blip r:embed="rId1"/>
          <a:stretch/>
        </p:blipFill>
        <p:spPr>
          <a:xfrm>
            <a:off x="1647360" y="1073160"/>
            <a:ext cx="8083440" cy="5051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177995</TotalTime>
  <Application>LibreOffice/7.3.4.2$Windows_X86_64 LibreOffice_project/728fec16bd5f605073805c3c9e7c4212a0120dc5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2016-09-10T10:34:19Z</dcterms:created>
  <dc:creator>Donis Marshall</dc:creator>
  <dc:description/>
  <dc:language>en-CA</dc:language>
  <cp:lastModifiedBy>Rod Davison</cp:lastModifiedBy>
  <cp:lastPrinted>2025-11-30T18:03:15Z</cp:lastPrinted>
  <dcterms:modified xsi:type="dcterms:W3CDTF">2025-12-18T14:32:51Z</dcterms:modified>
  <cp:revision>9258</cp:revision>
  <dc:subject>Risk Bootcamp</dc:subject>
  <dc:title>4. Risk Responses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52</vt:r8>
  </property>
  <property fmtid="{D5CDD505-2E9C-101B-9397-08002B2CF9AE}" pid="3" name="PresentationFormat">
    <vt:lpwstr>Widescreen</vt:lpwstr>
  </property>
  <property fmtid="{D5CDD505-2E9C-101B-9397-08002B2CF9AE}" pid="4" name="Slides">
    <vt:r8>52</vt:r8>
  </property>
</Properties>
</file>