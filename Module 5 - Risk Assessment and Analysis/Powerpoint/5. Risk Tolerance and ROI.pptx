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6.jpeg" ContentType="image/jpeg"/>
  <Override PartName="/ppt/media/image5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BAFB20B-24AE-411B-AF1E-75A3CE8C4F53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3AA678A-956B-4BC2-98E2-B11ED47AE3B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Now is the time to engage in an interactive Q&amp;A session where you can ask questions, share insights, and clarify any doubts about the topics we have covered so far.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This open discussion is designed to ensure that every participant has the opportunity to voice their thoughts and learn from the collective experience of the group.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Your questions and comments are valuable as they help us identify areas that may need further explanation and enable us to tailor future sessions to your needs.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We encourage you to speak up and contribute to the dialogue, as this interaction is one of the key components of our interactive learning approach.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As the session progresses, take note of any questions or ideas that you would like to revisit, and feel free to share your perspectives with the class.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7BD971C-90DB-42C7-9858-3663F4E1FB7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964EB4-11D1-4606-91BE-0B9CEA5210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E840FA-D22E-437D-8F82-1072471F8B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2DBB60-8BCA-425C-921A-57B676378E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2EA92F-FE97-49B2-8396-57D1EA1049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199262-AA27-4FF4-98A8-36C0C3B03D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66C299-EB9C-4878-9A30-3F3045D429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3149C1-C166-4ED0-A809-858307AFDE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C4EC0F-2210-4750-AAE5-063F10C24E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4FE9FC-5AB8-4D67-A611-3793ADCA0B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DF366E-06A2-4EA7-A555-17CD94ACCA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35A353-59E7-4B24-A05D-10B1768358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7FB430-4967-43ED-AE7E-F3ED74D023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F1E278-9960-443B-8FA6-51A7228010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088ECD-1BFA-400A-9CB7-40C616DF36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9F5206-BF81-45C9-B7D2-3E12D70BF7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AA2569-05E9-4C76-81F4-9092649BFD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97B287-488A-4FC3-81AE-A62F695350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90C908-5FE1-4CBC-AE7C-A922729036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FCEC79-FAFF-4FBB-9EB7-527CCFCB08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48309E-155C-4D3D-8B23-202C46A9CE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EDD0B2-2300-4AB1-AE78-6E897D71F9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C0E815-2422-4547-B66A-3B02A27649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1AB96F-253D-48E2-B836-4A09214321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856DF3-83EF-4ACC-8944-FC72F7E297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D6FCD15-E35B-40CA-9A1E-F3838D3B014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D1332F-4040-41B6-A27A-B3B87149C7AF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1D21AA-7034-4C97-88B2-94C17D7E61E5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8590FB4-6A0C-4066-9EF9-3116862168C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6CF01E-EDE9-417F-A8E9-B6FE2038567B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D4E846E-80B0-4181-9A8B-673D3B79BAB0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B23E72A-7A81-4DE8-B44D-D4C988F8B787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66CF4B0-F6B8-4DC0-A548-B7B44FCC7E14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4DF83A-3688-4DDA-9AC1-D40845B8292D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4AF2970-7233-409A-8290-56D868B44652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28B9160-8D16-4E73-B9B6-B5BF6BC255A9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49BF3E-D071-4178-ABFD-8747A0FD0D3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1C68910-EEA2-4F11-99BE-31F8286530CD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826B24F-6B4F-44A6-B6A6-68E96CBBF0C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5825DF0-AF9B-4F7E-82EB-F6175496C1B0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EA11462-6A39-410E-AA0D-B829BC468F9A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D0AF435-23AB-4C5A-A5FF-86692F8348E3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6CD9D9C-8DDC-4E4F-8E5A-5714A43CF765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CF4C555-93B8-4FA8-A116-3F026CFE6958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5C86867-22FD-4089-B8FC-8E02EE1B44B3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9FE422C-1090-47F4-92A8-5906F19CB71F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69DD196-20C2-4259-AB83-48879B0F1F07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3944954-58C2-4201-A2F0-7DA8A76C512A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CD21F4D-A4D1-4E18-8C6A-FDD28033B864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B8E155-E6D2-414A-B768-C3162C9B0F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374261-2E05-4223-9C73-A0ECFE4B31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699752-B84F-4CB1-A88D-6335F94AAE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C2E962-9880-4405-AC56-C5FCE6FBBF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B2A0B63-E18E-4D64-82B4-C2F8E2E7B6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EBD32E7-61FF-4065-BEF3-DD6B97AAEC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8A9ACDB-3847-4B31-89A7-F478472EDD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547D464-A4A0-41DE-90C8-9F928AB50E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B063DAC-525F-4DB2-95F8-6A02F75353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29537AB-FDD7-40FA-BE16-9D361D88C1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2C45C3D-1A54-4242-8F47-07F89D5DF8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24FBE3-709C-42DB-8C58-9EC7A8A575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4FB45C3-1BCB-44FA-AA8E-0A8DCAD7DC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0FF95DB-DED7-498B-9FA3-D9F96A4BC2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48479DA-68E9-4CF5-8EDD-C01312AF9C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B289EF-D71D-4A3B-9B7E-F8332F0973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8F987A3-85A4-484F-9C42-BF82653A7E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033EA58-EFB4-470A-AE70-3B3EC8FA60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8501327-43DC-4A26-8348-0906ED2841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55238C5-F19A-4207-83E2-C315FF4343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2842D63-339A-45A0-8849-5EC4BE90CF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6C5A8C8-0974-4871-83BA-D08C756832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296AD93-44A3-49EF-955F-E3F8B8017D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5F342C7-B046-4543-8C3C-3B5BB24577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BD952E2-4D9B-4C16-AFC4-836A48A4EE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D2F56BD-E592-4F22-8144-F67D8B5CCC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40232FD-55BE-4204-9B7A-79E0194F5C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0E947C4-AB12-4D71-98C8-6A83320135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ECFA7D39-4293-4238-81B0-A51EC6003E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BC72A7A-68EF-4786-8405-7EC01C7D2A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A76B135-0E6B-4532-A8AB-4C4C058F6B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C7669084-7332-469B-943E-511E2D9ABD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0DE1CD4-9FF8-416E-98D7-28535A2916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2CB1516-B009-4AC4-8724-4B34DD8ACD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F04F612D-2681-4E14-B3B1-FE7CD95603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31C81D4-05B7-434C-BE51-7A77B11AC8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1F537801-0F5A-4B7F-AEC1-05CF67766835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0A604BFE-FE82-46D2-A854-AFB51AB9D598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BA5160E-9904-40A1-9023-DD94EF84C6C6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E716BDD1-0573-4555-B487-E5F13B5A2149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7CB4957E-B92C-4A4E-A587-570A8943F569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67C8FB8-2FF1-4C8C-A0BB-9813AF6146A3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3C41A74C-0147-40D5-A7CB-219FAFA6DE3F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Risk Tolerance and ROI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r>
              <a:rPr b="0" lang="en-CA" sz="2000" spc="-1" strike="noStrike">
                <a:latin typeface="Nirmala UI Semilight"/>
              </a:rPr>
              <a:t>This module introduces and explores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The process of estimating risk tolerance for an organization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Formal risk frameworks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Cost benefit analysis of risk mitigation </a:t>
            </a:r>
            <a:endParaRPr b="0" lang="en-CA" sz="1600" spc="-1" strike="noStrike">
              <a:latin typeface="Nirmala UI Semilight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6978960" y="2013480"/>
            <a:ext cx="4826880" cy="2713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Effective security and risk management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Requires structured decision-making approaches that ensure consistency, transparency, and alignment with organizational objectives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Decision-making frameworks provide a systematic process for identifying risks, evaluating options, and determining the most appropriate course of action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Common frameworks used for risk management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NIST Risk Management Framework (RMF)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Provides a life-cycle process that includes categorization, control selection, implementation, assessment, authorization, and continuous monitoring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Helps organizations match security controls to mission impact and risk tolerance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Common frameworks used for risk management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ISO 31000 Risk Management Principles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Offers a high-level structure for identifying, analyzing, evaluating, and treating risks.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Ensures risk activities are consistent with enterprise strategy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OCTAVE and FAIR Frameworks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OCTAVE focuses on organizational knowledge to evaluate risk scenarios.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FAIR quantifies risk using financial impact, probability, and loss frequency, supporting more precise decision making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Provide the structure, language, and processes organizations use to define, measure, and align risk appetite and risk tolerance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Frameworks do not set the appetite or tolerance themselves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But they influence the way organizations understand, quantify, and justify them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Why they are used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Standardized definitions create organizational alignment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Different departments often interpret "acceptable risk" differently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Formal frameworks: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Provide standard terminology (e.g., likelihood, impact, inherent risk, residual risk)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Enforce common measurement criteria (qualitative scales, quantitative metrics)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Require consistent categorization and rating of risks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Impact on risk appetite and tolerance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Reduces ambiguity about what is acceptable or unacceptable risk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Aligns risk decisions across business units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Prevents operational teams from being too risk-averse or too risk-seeking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Anchor appetite and tolerance to business objectives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Standards emphasize linking risk decisions to strategic objectives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means organizations must: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Identify business goals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Map risks to those goals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Determine how much risk exposure is acceptable in pursuit of those goals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appetite becomes strategy-driven, not fear-driven or convenience-driven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Governance structures enforce consistency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Formal frameworks require: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Governance committees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Documented policies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Defined approval thresholds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Oversight mechanisms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Roles and responsibilities for risk owners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Governance formalizes: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Who sets risk appetite (typically the Board or senior leadership)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Who sets tolerance levels (often operational leaders and risk committees)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How deviations are escalated and managed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This prevents arbitrary or inconsistent risk-taking across the organization.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Metrics and quantification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Frameworks such as FAIR and NIST’s risk scoring models introduce quantitative elements: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Probabilistic risk estimates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Financial impact modeling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Loss expectancy calculations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Threshold-based risk scoring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appetite and tolerance shift from vague concepts to measurable parameters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“</a:t>
            </a:r>
            <a:r>
              <a:rPr b="0" lang="en-CA" sz="1400" spc="-1" strike="noStrike">
                <a:latin typeface="Nirmala UI Semilight"/>
              </a:rPr>
              <a:t>We accept risks up to $2M in potential annualized loss.”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“</a:t>
            </a:r>
            <a:r>
              <a:rPr b="0" lang="en-CA" sz="1400" spc="-1" strike="noStrike">
                <a:latin typeface="Nirmala UI Semilight"/>
              </a:rPr>
              <a:t>We tolerate system downtime of up to 4 hours per quarter.”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“</a:t>
            </a:r>
            <a:r>
              <a:rPr b="0" lang="en-CA" sz="1400" spc="-1" strike="noStrike">
                <a:latin typeface="Nirmala UI Semilight"/>
              </a:rPr>
              <a:t>We will not accept a risk with a likelihood score &gt; 3 unless mitigations are in place.”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Map controls to risk levels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NIST RMF and ISO-based control catalogs provide baseline controls based on system criticality or risk categories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Appetite and tolerance become operationalized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High-impact systems require strong controls require low tolerance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  <a:ea typeface="Noto Sans CJK SC"/>
              </a:rPr>
              <a:t>Moderate-impact systems have flexible controls </a:t>
            </a:r>
            <a:r>
              <a:rPr b="0" lang="en-CA" sz="1400" spc="-1" strike="noStrike">
                <a:latin typeface="Nirmala UI Semilight"/>
              </a:rPr>
              <a:t>require moderate tolerance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  <a:ea typeface="Noto Sans CJK SC"/>
              </a:rPr>
              <a:t>Low-impact systems rely on minimal controls </a:t>
            </a:r>
            <a:r>
              <a:rPr b="0" lang="en-CA" sz="1400" spc="-1" strike="noStrike">
                <a:latin typeface="Nirmala UI Semilight"/>
              </a:rPr>
              <a:t>require higher tolerance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Instead of subjective decisions, organizations apply consistent control strength based on a risk framework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Documentation and audits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Formal risk frameworks require thorough documentation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Risk registers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Treatment plans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Residual risk acceptance forms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Justifications for mitigation vs. acceptance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Continuous monitoring reports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act of documenting risk decisions forces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Explicit justification of tolerance levels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Evidence-based reasoning for risk acceptance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Leadership visibility into risk posture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This helps prevent unnoticed “shadow risks” growing outside of governance.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Continuous monitoring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Frameworks embed continuous monitoring and periodic reassessments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Regular reviews of appetite statements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Updated risk evaluations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New threat intelligence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Post-incident reviews that feed into governance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appetite and tolerance become dynamic, not static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Organizations adjust tolerance levels based 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Changing business priorities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New regulations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Shifts in threat landscape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Post-incident lessons learned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Emerging technology adoption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ensures the organization isn’t locked into outdated risk assumptions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000" spc="-1" strike="noStrike">
                <a:latin typeface="Nirmala UI Semilight"/>
              </a:rPr>
              <a:t> </a:t>
            </a:r>
            <a:endParaRPr b="0" lang="en-CA" sz="10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Decision-Making Frameworks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Formal escalation paths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Frameworks define escalation thresholds tied to tolerance boundaries.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If risk exposure exceeds tolerance, then escalate to risk committee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  <a:ea typeface="Noto Sans CJK SC"/>
              </a:rPr>
              <a:t>If residual risk exceeds appetite</a:t>
            </a:r>
            <a:r>
              <a:rPr b="0" lang="en-CA" sz="1400" spc="-1" strike="noStrike">
                <a:latin typeface="Nirmala UI Semilight"/>
              </a:rPr>
              <a:t>, then escalate to executive leadership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  <a:ea typeface="Noto Sans CJK SC"/>
              </a:rPr>
              <a:t>If risk exceeds Board-defined appetite</a:t>
            </a:r>
            <a:r>
              <a:rPr b="0" lang="en-CA" sz="1400" spc="-1" strike="noStrike">
                <a:latin typeface="Nirmala UI Semilight"/>
              </a:rPr>
              <a:t>, then mitigation becomes mandatory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Prevents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Operational teams from silently accepting high levels of risk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“</a:t>
            </a:r>
            <a:r>
              <a:rPr b="0" lang="en-CA" sz="1400" spc="-1" strike="noStrike">
                <a:latin typeface="Nirmala UI Semilight"/>
              </a:rPr>
              <a:t>Risk creep” where tolerance increases unintentionally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Leaders from being unaware of critical risks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This reinforces governance discipline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Frameworks Shape Appetite/Tolerance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44" name="" descr=""/>
          <p:cNvPicPr/>
          <p:nvPr/>
        </p:nvPicPr>
        <p:blipFill>
          <a:blip r:embed="rId1"/>
          <a:stretch/>
        </p:blipFill>
        <p:spPr>
          <a:xfrm>
            <a:off x="1650600" y="1252800"/>
            <a:ext cx="8136720" cy="4595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Risk/Reward Trade-Off Analysis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Every security control or mitigation decision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Requires understanding the trade-off between the risk being reduced and the reward being gained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Key considerations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Value of the asset being protected (financial, strategic, reputational)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Likelihood and impact of the threat event if a control is not implemented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Operational constraints, such as performance or user experience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Costs and potential organizational gains from mitigating or accepting the risk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Implementing multi-factor authentication (MFA):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Reward: Substantial reduction in account takeover risk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Risk/Cost: Increased user friction, potential helpdesk load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Decision: Often justified for high-value systems or regulatory environments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Analysis ensures that security decisions are balanced, avoid unnecessary controls, and align with business priorities.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CBA for Control Selection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cost-benefit analysis (CBA) compares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cost of implementing and maintaining a control 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Against the value of the risk reduction it provides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Helps justify investments and ensures resources are used efficiently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Components of a CBA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Control costs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Acquisition (software, hardware)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Implementation (labor, integration)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Maintenance (licensing, monitoring)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Training and support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CBA for Control Selection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Components of a CBA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Expected benefits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Reduction in likelihood or impact of incidents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Avoidance of financial loss or regulatory penalties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Protection of brand reputation and customer trust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Residual risk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Risk remaining after the control is applied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well-performed CBA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Supports evidence-based decisions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Helps security leaders choose controls that deliver the highest return on risk reduction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Risk-Adjusted Decision Making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Integrates quantitative and qualitative risk assessments into day-to-day and strategic choices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Shifts decisions from opinion-driven to data-informed, aligning them with organizational risk appetite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Elements of risk-adjusted decisions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quantification: Estimating probability, impact, and exposure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Scenario-based analysis: Evaluating multiple future conditions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Prioritization models: Ranking risks by severity and business value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Opportunity cost evaluation: Understanding what is sacrificed by choosing one option over another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Risk-Adjusted Decision Making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26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Benefits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Ensures consistency in decisions across departments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Aligns security investments with business priorities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Supports better resource allocation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Enhances transparency and reduces bias in decision-making processes</a:t>
            </a:r>
            <a:endParaRPr b="0" lang="en-CA" sz="1800" spc="-1" strike="noStrike">
              <a:latin typeface="Nirmala UI Semilight"/>
            </a:endParaRPr>
          </a:p>
        </p:txBody>
      </p:sp>
      <p:pic>
        <p:nvPicPr>
          <p:cNvPr id="355" name="" descr=""/>
          <p:cNvPicPr/>
          <p:nvPr/>
        </p:nvPicPr>
        <p:blipFill>
          <a:blip r:embed="rId1"/>
          <a:stretch/>
        </p:blipFill>
        <p:spPr>
          <a:xfrm>
            <a:off x="2233800" y="3600720"/>
            <a:ext cx="7294680" cy="1885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Impact on Risk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Risk appetite and tolerance influence decisions in multiple ways: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Accepting risk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Organizations with a higher appetite may accept risks to enable innovation, speed, or market advantage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Often seen in startups, product-development teams, and organizations in competitive markets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Mitigating or transferring risk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Organizations with low tolerance may implement stringent controls, adopt insurance, or outsource high-risk functions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Common in regulated sectors such as banking, healthcare, and government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Escalation and decision thresholds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Clearly defined tolerance levels dictate when risks must be escalated to leadership.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Ensures consistent risk handling across teams, reducing subjectivity.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Strategic alignment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Aligning security controls with risk appetite prevents over-engineering and under-protection.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Promotes efficient resource allocation and prioritization of high-impact risks.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10050840" cy="72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Q&amp;A and open discussion</a:t>
            </a:r>
            <a:endParaRPr b="0" lang="en-CA" sz="3600" spc="-1" strike="noStrike">
              <a:latin typeface="Arial"/>
            </a:endParaRPr>
          </a:p>
        </p:txBody>
      </p:sp>
      <p:pic>
        <p:nvPicPr>
          <p:cNvPr id="359" name="Content Placeholder 2" descr=""/>
          <p:cNvPicPr/>
          <p:nvPr/>
        </p:nvPicPr>
        <p:blipFill>
          <a:blip r:embed="rId1"/>
          <a:stretch/>
        </p:blipFill>
        <p:spPr>
          <a:xfrm>
            <a:off x="1647360" y="1073160"/>
            <a:ext cx="8083440" cy="50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169271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2025-11-09T09:59:05Z</cp:lastPrinted>
  <dcterms:modified xsi:type="dcterms:W3CDTF">2025-12-18T13:34:52Z</dcterms:modified>
  <cp:revision>9156</cp:revision>
  <dc:subject>Risk Bootcamp</dc:subject>
  <dc:title>5. Risk Tolerance and ROI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