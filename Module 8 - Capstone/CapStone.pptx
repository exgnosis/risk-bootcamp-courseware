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jpeg" ContentType="image/jpeg"/>
  <Override PartName="/ppt/media/image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move the slide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2000" spc="-1" strike="noStrike">
                <a:latin typeface="Arial"/>
              </a:rPr>
              <a:t>Click to edit the notes format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CA" sz="1400" spc="-1" strike="noStrike">
                <a:latin typeface="Times New Roman"/>
              </a:rPr>
              <a:t>&lt;header&gt;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2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4" name="PlaceHolder 5"/>
          <p:cNvSpPr>
            <a:spLocks noGrp="1"/>
          </p:cNvSpPr>
          <p:nvPr>
            <p:ph type="ftr" idx="2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&lt;footer&gt;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315" name="PlaceHolder 6"/>
          <p:cNvSpPr>
            <a:spLocks noGrp="1"/>
          </p:cNvSpPr>
          <p:nvPr>
            <p:ph type="sldNum" idx="2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CA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F75E9F8-A3C4-4E64-8AA2-C5C59533E285}" type="slidenum">
              <a:rPr b="0" lang="en-CA" sz="1400" spc="-1" strike="noStrike">
                <a:latin typeface="Times New Roman"/>
              </a:rPr>
              <a:t>&lt;number&gt;</a:t>
            </a:fld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  <a:p>
            <a:pPr marL="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CA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24"/>
          </p:nvPr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69D3055-DEB3-41FA-B94D-223543266F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37198E-211B-4C53-BB00-3C1D818A73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851748-DE72-4D5C-B599-44D7CAC24E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50A158-E4EF-48DE-8C9E-87E8137C61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4D33E5-7237-4DA3-A795-1B0FB98A82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482E94-DF54-4D15-A619-9CA8959B61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A694A2-0BAC-486F-9BF2-4F9AE0518B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3ECCE8-3636-4E05-9D4F-01702E1D2F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22EB2F-BCB8-466E-B5B1-D63DBE36AF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7A6C5E-511E-49DA-A841-1766FD1052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971989-10AA-4BF5-AA5E-90EEA7B124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9C3162-30E0-4F0B-96FD-1C46CA14164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5FA50A-8C2A-4F51-9736-0FC5108BDD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00DB3C-55C4-402C-946C-959D0E1E95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926E33-1653-47CE-93BA-AB4331FE86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CCB6A3-B592-41BA-A925-2EB4574F9A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647D82-3A2A-428A-8C6F-54F2256230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58F0BA5-391C-440D-BD27-93727EF35F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FBF865-95F7-473C-9FE0-92DC02062E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0011C7-09F1-4C1C-9D58-1C9A3FED5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633930-0F33-4C1A-9B2B-E3EF792CEE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FFD2A4-53AA-420A-9F81-56995DBEFC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D98D3A-24B4-4444-84AE-0C95B7ABBF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6EE40C0-7AEF-4755-9D58-D52664BB09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161EF-6AF6-4781-A926-0CA4C0317E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0F7F58F-DB10-4BB0-8650-3D3D2C5195F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2B0A3D-E1D8-4C95-BB4F-E7EA137AA0BB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A6E266A-F4EC-4E31-96C0-4FCAA87E15B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359523-03AE-40D6-8F50-7A05B996E257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05F87EE-29FF-484F-871F-69004786EE5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B46459-D030-4A00-AF39-A28156C10E3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0D44E0-C9DD-400B-BFA1-CF2C0BE7917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B32E045-FA42-4AD7-81AC-E91191964A36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48B29DA-AAE5-4706-81BE-B42BEEB67452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AF66A1-A05B-4DEF-A987-FC2E14ABFD6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EE4A9DE-DA69-42E6-9D0F-8E8B0C8B110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2636AA3-CB56-4729-87B9-9F7DE45FE649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D49C4C1-10B4-4649-9C99-389227911AEE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FD5E1A2-FE14-48D4-AE88-EFA2CE947B93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29C9CF9-2E19-4F82-961F-C07E1395EDDC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5D1182C-AECA-4A19-8FA0-769497B2F573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00B7C8A-5564-4447-922F-4B288B3C60DA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1B2A7CE-54AF-4D7F-AA31-9AB7A77ABE69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1EBC5AD-2E49-4CCF-B400-E33CA60A08C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8BD5243-FEF9-40DE-B7A9-37EED98A4B0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F88FBCE-7322-4C45-93DA-F8556D9DC437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451A9BA-473D-4E49-A317-4DDC146F7CE2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1A27087-53CA-42AA-9C54-8C91AB57693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5F77AC7-3C62-4742-801C-BA8DF301A0AA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432A60A-4895-46A4-9D63-86C4672B4B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F705E7-6B80-49E1-A9A1-C9FA3D10EB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A1FB306-7BEA-4C99-87EB-FB24704095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92C9BEF-CA64-427C-BDEE-DC0393D389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2820EBE-74A1-4563-A8CF-A9BBF09AF1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76BE77-36AE-4604-97CA-96D1898302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C77466B-57E5-4CBE-BD8D-98AC1098A4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8B5A56-49A6-400C-941E-E8806EF2C8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EF21C3-8CA1-46AC-9467-43D1B4DA62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D79BF4-80FA-4C7D-B9ED-F203192709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CC3550-8797-4C91-9AE8-D52D9C1D1F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7974F49-F635-43C7-B1E5-3A6656D3D9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C818678-D877-4445-AC48-00EE5ABE36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7D0A6DD-1972-4039-92F6-4B8CD82D32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CD5DFE3-BA6C-4A9B-8190-567DD530B4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7079D52-12DC-4F10-93A9-56C7C467A1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D788633-A859-45F7-877F-BB67F9AA81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027CDEF-DAE2-4D66-BB96-FF5025B536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DAF4278-A543-4D80-A680-58BD634ED3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704D6DA-5846-40DF-8016-90B5AA4737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CCA6831-723D-41D2-8E33-00210AC83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0F51F6C-5F41-46E7-A886-3FA59F73B6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3AD55A3-002D-4EEC-BA79-D8A592F4CC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114115E-87E3-4B9D-BAF0-FAC6801892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F4FA4042-242A-4AD7-824C-6048AD62FD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A4E0E3C6-0F26-4B19-ADD9-C69576A9A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BC68448-616C-4827-A2D2-5563CA8948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80D3D57A-B6C0-41E2-ABB4-3494F6DB9E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6FFA31E-C197-4BE4-A517-97EE7A896F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609480" y="152640"/>
            <a:ext cx="801216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CA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62A2A31-C6FF-483E-B9C5-221F177B89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C4E34EC-1FE9-4994-9174-7D17CE7B00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628030DA-0818-4BF7-AB82-1E8E3A025D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84F60D2-394B-49B8-B38A-A37A78B563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424800" y="3653640"/>
            <a:ext cx="1099440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BD5E184C-DC19-4713-9C5C-136D6D1EA3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6058440" y="101520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42480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6058440" y="3653640"/>
            <a:ext cx="53650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92E30B3-F221-48AB-9F6E-A55BDB0CD3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42480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142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859160" y="101520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42480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142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859160" y="3653640"/>
            <a:ext cx="3539880" cy="24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CA" sz="2400" spc="-1" strike="noStrike">
              <a:latin typeface="Nirmala UI Semiligh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56DB1319-812D-4FE8-A328-BF466AC74F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8D69550E-CFD4-4D60-A027-7FC14243CA68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47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Click to edit the outline text format</a:t>
            </a:r>
            <a:endParaRPr b="0" lang="en-CA" sz="20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en-CA" sz="1600" spc="-1" strike="noStrike">
                <a:latin typeface="Nirmala UI Semilight"/>
              </a:rPr>
              <a:t>Second Outline Level</a:t>
            </a:r>
            <a:endParaRPr b="0" lang="en-CA" sz="1600" spc="-1" strike="noStrike">
              <a:latin typeface="Nirmala UI Semilight"/>
            </a:endParaRPr>
          </a:p>
          <a:p>
            <a:pPr lvl="2" marL="1296000" indent="-288000"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0CBAECC2-DB97-4B98-902F-AD372D6CEC02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92" name="Straight Connector 8"/>
          <p:cNvCxnSpPr/>
          <p:nvPr/>
        </p:nvCxnSpPr>
        <p:spPr>
          <a:xfrm>
            <a:off x="6663240" y="154116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93" name="PlaceHolder 1"/>
          <p:cNvSpPr>
            <a:spLocks noGrp="1"/>
          </p:cNvSpPr>
          <p:nvPr>
            <p:ph type="ftr" idx="7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8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2B465316-63B3-491C-8775-569662E3057E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1015884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9"/>
          </p:nvPr>
        </p:nvSpPr>
        <p:spPr>
          <a:xfrm>
            <a:off x="44280" y="657432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6a6a6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sldNum" idx="10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19ADB41E-0DD0-4B1B-94C4-6FE02B772FF6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6" hidden="1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Rectangle 7" hidden="1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Rectangle 8"/>
          <p:cNvSpPr/>
          <p:nvPr/>
        </p:nvSpPr>
        <p:spPr>
          <a:xfrm>
            <a:off x="12001320" y="4846320"/>
            <a:ext cx="189360" cy="201060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Rectangle 9"/>
          <p:cNvSpPr/>
          <p:nvPr/>
        </p:nvSpPr>
        <p:spPr>
          <a:xfrm>
            <a:off x="12001320" y="0"/>
            <a:ext cx="189360" cy="48452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Click to edit the title text format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11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2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F2A9395D-21B7-4B0D-BD45-3B7621EC1F7F}" type="slidenum">
              <a:rPr b="1" lang="en-US" sz="2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13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424800" y="1015200"/>
            <a:ext cx="10994400" cy="505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Click to edit the outline text format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Second Outline Level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Third Outline Level</a:t>
            </a:r>
            <a:endParaRPr b="0" lang="en-CA" sz="1400" spc="-1" strike="noStrike">
              <a:latin typeface="Nirmala UI Semiligh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Nirmala UI Semilight"/>
              </a:rPr>
              <a:t>Fourth Outline Level</a:t>
            </a:r>
            <a:endParaRPr b="0" lang="en-CA" sz="2000" spc="-1" strike="noStrike">
              <a:latin typeface="Nirmala UI Semiligh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Fifth Outline Level</a:t>
            </a:r>
            <a:endParaRPr b="0" lang="en-CA" sz="2000" spc="-1" strike="noStrike">
              <a:latin typeface="Nirmala UI Semiligh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Sixth Outline Level</a:t>
            </a:r>
            <a:endParaRPr b="0" lang="en-CA" sz="2000" spc="-1" strike="noStrike">
              <a:latin typeface="Nirmala UI Semiligh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Nirmala UI Semilight"/>
              </a:rPr>
              <a:t>Seventh Outline Level</a:t>
            </a:r>
            <a:endParaRPr b="0" lang="en-CA" sz="2000" spc="-1" strike="noStrike">
              <a:latin typeface="Nirmala UI Semi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12001320" y="0"/>
            <a:ext cx="189360" cy="137052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Rectangle 7"/>
          <p:cNvSpPr/>
          <p:nvPr/>
        </p:nvSpPr>
        <p:spPr>
          <a:xfrm>
            <a:off x="12001320" y="1371600"/>
            <a:ext cx="189360" cy="548532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22" name="Straight Connector 8"/>
          <p:cNvCxnSpPr/>
          <p:nvPr/>
        </p:nvCxnSpPr>
        <p:spPr>
          <a:xfrm>
            <a:off x="6663240" y="1656720"/>
            <a:ext cx="1080" cy="444492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8012160" cy="72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5815440" y="1073880"/>
            <a:ext cx="4957200" cy="505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4"/>
          </p:nvPr>
        </p:nvSpPr>
        <p:spPr>
          <a:xfrm>
            <a:off x="609480" y="6492960"/>
            <a:ext cx="4570920" cy="282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5"/>
          </p:nvPr>
        </p:nvSpPr>
        <p:spPr>
          <a:xfrm rot="16200000">
            <a:off x="11188800" y="5825520"/>
            <a:ext cx="1314720" cy="48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5DE73982-B98D-4C00-9E11-5E2B56ED7DCC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dt" idx="16"/>
          </p:nvPr>
        </p:nvSpPr>
        <p:spPr>
          <a:xfrm>
            <a:off x="609480" y="6172200"/>
            <a:ext cx="4570920" cy="30384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defRPr b="0" lang="en-CA" sz="1400" spc="-1" strike="noStrike">
                <a:latin typeface="Times New Roman"/>
              </a:defRPr>
            </a:lvl1pPr>
          </a:lstStyle>
          <a:p>
            <a:r>
              <a:rPr b="0" lang="en-CA" sz="1400" spc="-1" strike="noStrike">
                <a:latin typeface="Times New Roman"/>
              </a:rPr>
              <a:t>&lt;date/time&gt;</a:t>
            </a:r>
            <a:endParaRPr b="0" lang="en-CA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/>
          <p:cNvSpPr/>
          <p:nvPr/>
        </p:nvSpPr>
        <p:spPr>
          <a:xfrm>
            <a:off x="12001320" y="0"/>
            <a:ext cx="190080" cy="1371240"/>
          </a:xfrm>
          <a:prstGeom prst="rect">
            <a:avLst/>
          </a:prstGeom>
          <a:solidFill>
            <a:srgbClr val="d1282e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ectangle 7"/>
          <p:cNvSpPr/>
          <p:nvPr/>
        </p:nvSpPr>
        <p:spPr>
          <a:xfrm>
            <a:off x="12001320" y="1371600"/>
            <a:ext cx="190080" cy="5486040"/>
          </a:xfrm>
          <a:prstGeom prst="rect">
            <a:avLst/>
          </a:prstGeom>
          <a:solidFill>
            <a:srgbClr val="000000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152640"/>
            <a:ext cx="7721280" cy="13712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600" spc="-60" strike="noStrike" cap="all">
                <a:solidFill>
                  <a:srgbClr val="d1282e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217440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786720" y="1574640"/>
            <a:ext cx="438876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Edit Master text styles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>
              <a:lnSpc>
                <a:spcPct val="100000"/>
              </a:lnSpc>
              <a:spcBef>
                <a:spcPts val="479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d1282e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dt" idx="17"/>
          </p:nvPr>
        </p:nvSpPr>
        <p:spPr>
          <a:xfrm>
            <a:off x="609480" y="6172200"/>
            <a:ext cx="4571640" cy="304560"/>
          </a:xfrm>
          <a:prstGeom prst="rect">
            <a:avLst/>
          </a:prstGeom>
          <a:noFill/>
          <a:ln w="0">
            <a:noFill/>
          </a:ln>
        </p:spPr>
        <p:txBody>
          <a:bodyPr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18"/>
          </p:nvPr>
        </p:nvSpPr>
        <p:spPr>
          <a:xfrm>
            <a:off x="609480" y="6492960"/>
            <a:ext cx="4571640" cy="28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defRPr b="0" lang="en-CA" sz="10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CA" sz="10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CA" sz="1000" spc="-1" strike="noStrike"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19"/>
          </p:nvPr>
        </p:nvSpPr>
        <p:spPr>
          <a:xfrm rot="16200000">
            <a:off x="11188800" y="5824800"/>
            <a:ext cx="1315440" cy="486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1" lang="en-US" sz="2400" spc="-1" strike="noStrike">
                <a:solidFill>
                  <a:srgbClr val="d1282e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fld id="{FF04DA7C-2084-40BE-863F-36C4D04400B1}" type="slidenum">
              <a:rPr b="1" lang="en-US" sz="2400" spc="-1" strike="noStrike">
                <a:solidFill>
                  <a:srgbClr val="d1282e"/>
                </a:solidFill>
                <a:latin typeface="Arial"/>
              </a:rPr>
              <a:t>&lt;number&gt;</a:t>
            </a:fld>
            <a:endParaRPr b="0" lang="en-CA" sz="2400" spc="-1" strike="noStrike">
              <a:latin typeface="Times New Roman"/>
            </a:endParaRPr>
          </a:p>
        </p:txBody>
      </p:sp>
      <p:cxnSp>
        <p:nvCxnSpPr>
          <p:cNvPr id="273" name="Straight Connector 8"/>
          <p:cNvCxnSpPr/>
          <p:nvPr/>
        </p:nvCxnSpPr>
        <p:spPr>
          <a:xfrm>
            <a:off x="6663240" y="1656720"/>
            <a:ext cx="360" cy="4444200"/>
          </a:xfrm>
          <a:prstGeom prst="straightConnector1">
            <a:avLst/>
          </a:prstGeom>
          <a:ln w="9360">
            <a:solidFill>
              <a:srgbClr val="9d1e23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5" descr=""/>
          <p:cNvPicPr/>
          <p:nvPr/>
        </p:nvPicPr>
        <p:blipFill>
          <a:blip r:embed="rId1"/>
          <a:stretch/>
        </p:blipFill>
        <p:spPr>
          <a:xfrm>
            <a:off x="0" y="1303920"/>
            <a:ext cx="12191040" cy="60948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ftr" idx="23"/>
          </p:nvPr>
        </p:nvSpPr>
        <p:spPr>
          <a:xfrm>
            <a:off x="9588960" y="127440"/>
            <a:ext cx="2602080" cy="33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a6a6a6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“</a:t>
            </a:r>
            <a:r>
              <a:rPr b="0" lang="en-US" sz="1100" spc="-1" strike="noStrike">
                <a:solidFill>
                  <a:srgbClr val="a6a6a6"/>
                </a:solidFill>
                <a:latin typeface="Arial"/>
              </a:rPr>
              <a:t>Develop a passion for learning.”</a:t>
            </a:r>
            <a:endParaRPr b="0" lang="en-CA" sz="1100" spc="-1" strike="noStrike">
              <a:latin typeface="Times New Roman"/>
            </a:endParaRPr>
          </a:p>
        </p:txBody>
      </p:sp>
      <p:sp>
        <p:nvSpPr>
          <p:cNvPr id="318" name="Text Box 2"/>
          <p:cNvSpPr/>
          <p:nvPr/>
        </p:nvSpPr>
        <p:spPr>
          <a:xfrm>
            <a:off x="58680" y="468000"/>
            <a:ext cx="10306080" cy="12258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  <a:buNone/>
            </a:pPr>
            <a:r>
              <a:rPr b="0" lang="en-US" sz="3600" spc="-1" strike="noStrike">
                <a:solidFill>
                  <a:srgbClr val="ff0000"/>
                </a:solidFill>
                <a:latin typeface="Gadugi"/>
                <a:ea typeface="Calibri"/>
              </a:rPr>
              <a:t>RISK AND RESILIENCE BOOTCAMP</a:t>
            </a:r>
            <a:br>
              <a:rPr sz="3600"/>
            </a:br>
            <a:endParaRPr b="0" lang="en-CA" sz="3600" spc="-1" strike="noStrike">
              <a:latin typeface="Arial"/>
            </a:endParaRPr>
          </a:p>
        </p:txBody>
      </p:sp>
      <p:sp>
        <p:nvSpPr>
          <p:cNvPr id="319" name="Oval 1"/>
          <p:cNvSpPr/>
          <p:nvPr/>
        </p:nvSpPr>
        <p:spPr>
          <a:xfrm>
            <a:off x="11068920" y="5891760"/>
            <a:ext cx="619200" cy="619200"/>
          </a:xfrm>
          <a:prstGeom prst="ellipse">
            <a:avLst/>
          </a:prstGeom>
          <a:solidFill>
            <a:srgbClr val="7a7a7a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Arial"/>
              </a:rPr>
              <a:t>1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capstone project overview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This is your final assessment for the Risk and Resilience bootcamp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scenario you will analyze is a catastrophic service failure in a company that provides Internet-based services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company does not have the internal resources to do a risk assessment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Your group has been brought in as external consultants to 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Review the company’s risk management posture 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Make recommendations for a risk strategy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Analyze and make recommendations on risk controls and operating procedures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Recommend changes in the current corporate approach to managing future risk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be expected to display your knowledge of the concepts and techniques covered in class in the material and discussions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capstone project overview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project simulates the real world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start with the initial internal assessment of the failure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Not all the data is relevant, you have to sift through it to find what you need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data is incomplete, you have to find out what else you need to complete the assignment</a:t>
            </a:r>
            <a:endParaRPr b="0" lang="en-CA" sz="14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The data is messy, it’s not totally accurate or up to date and may require clarification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You will be provided with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A corporate overview for background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This includes a detailed description of the IT architecture and business organization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postmortem incident report from the failure investigation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Supporting documentation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Risk capstone project overview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You will be expected to demonstrate your understanding of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controls and risk strategy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culture, appetite and tolerance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Performing a risk assessment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Systems thinking, risk and IT architecture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Interviewing and gathering evidence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Evaluating and developing risk policy and governance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Risk maturity in an organization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Team Formation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You have been divided into three teams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five Dallas students comprise one team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two Pittsburgh teams will be decided in the Dec 1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number of people you have in your group will be a factor in the evaluation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More people = higher expectations</a:t>
            </a:r>
            <a:endParaRPr b="0" lang="en-CA" sz="1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Each group will be given the same situation to analyze 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scoring rubric will take into consideration any unique or creative insights or analyses your group makes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Your group should not collaborate with other groups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We will be using the honor system rather than enforcing this directly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Problem statement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DevNest is an Internet services company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On Black Friday, they experienced a major service outage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Senior management has raised concerns about future outages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They do not have the internal expertise to do a risk analysis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Your team has been hired as external risk consultants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Your task is to review the postmortem of the outage from a risk perspective and prepare a set of deliverables described later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There is no “right” answer for the capstone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Your deliverables will be evaluated on the rubric described later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Problem statement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Documentation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be provided with some internal reports, risk registers and other documents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Not everything in the documents is useful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Just like in real life, you have to winnow through them to find the data you need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Not all the data you need is in the documents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You will be expected to fill in any missing information with interviews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have been provided with background documents for context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This includes a corporate overview and IT architecture description</a:t>
            </a:r>
            <a:endParaRPr b="0" lang="en-CA" sz="1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Interviews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On Dec 3, you will have the opportunity to interview four people from DevNest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Dmitri Chernikov:  The operations center senior manager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Bruce McCloud: Chief Technology Officer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Desmond Boch: Senior IT analyst who led the team that managed to restore services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Harald Mikklesen: Director of Business Development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interviews will be done as a class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Ensures every group get the same information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be expected to be prepared for the interviews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instructor will play the role of the interviewees 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Final Deliverables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risk assessment that analyzes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effectiveness or failure of the existing controls during the outage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Recommendations for implementing better controls with a rationale for each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existing approach to risk at the operational level and recommendations for improving the risk posture of operations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Current risk practices and recommendations for testing, evidence and reporting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A risk policy report that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Identifies issues with the risk culture of the organization, in terms of risk appetite and tolerance, including suggestions for a more robust approach to risk management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Identifies the gaps between the perceptions of risk at the business level, business process level and IT risk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Recommends a plan for implementing a more mature risk culture</a:t>
            </a:r>
            <a:endParaRPr b="0" lang="en-CA" sz="18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Final Deliverables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Management Presentation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This is your presentation to senior management at DevNest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present formally on Dec 11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You will have a practice run through in class on Dec 9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599760" y="-116280"/>
            <a:ext cx="10188000" cy="12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CA" sz="3600" spc="-1" strike="noStrike" cap="all">
                <a:solidFill>
                  <a:srgbClr val="bf0041"/>
                </a:solidFill>
                <a:latin typeface="Leelawadee UI Semilight"/>
              </a:rPr>
              <a:t>Grading rubric</a:t>
            </a:r>
            <a:endParaRPr b="0" lang="en-CA" sz="3600" spc="-1" strike="noStrike" cap="all">
              <a:solidFill>
                <a:srgbClr val="bf0041"/>
              </a:solidFill>
              <a:latin typeface="Leelawadee UI Semilight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424800" y="1051200"/>
            <a:ext cx="10340640" cy="49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The capstone grade will be Pass/Fail</a:t>
            </a:r>
            <a:endParaRPr b="0" lang="en-CA" sz="24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Nirmala UI Semilight"/>
              </a:rPr>
              <a:t>Evaluation will be based on</a:t>
            </a:r>
            <a:endParaRPr b="0" lang="en-CA" sz="2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How realistic the recommendations are, based on the organizational constraints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Identification of issues to be resolved and what additional information is needed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results being data driven and based only on the information gathered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recommendations being consistent with the risk principles covered in class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recommendations in the form of actionable steps that can be realistically implemented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Presentation of different options for handling future risk with a cost/benefit qualitative analysis</a:t>
            </a:r>
            <a:endParaRPr b="0" lang="en-CA" sz="18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The clarity and understand-ability of the recommendations and presentation</a:t>
            </a:r>
            <a:endParaRPr b="0" lang="en-CA" sz="1800" spc="-1" strike="noStrike">
              <a:latin typeface="Nirmala UI Semiligh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400" spc="-1" strike="noStrike">
                <a:latin typeface="Nirmala UI Semilight"/>
              </a:rPr>
              <a:t>Hint: Use diagrams to illustrate your recommendations when feasible</a:t>
            </a:r>
            <a:endParaRPr b="0" lang="en-CA" sz="1400" spc="-1" strike="noStrike">
              <a:latin typeface="Nirmala UI Semilight"/>
            </a:endParaRPr>
          </a:p>
          <a:p>
            <a:pPr lvl="1" marL="864000" indent="-324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Nirmala UI Semilight"/>
              </a:rPr>
              <a:t>Novel or creative approaches that demonstrate the ability to think outside the box</a:t>
            </a:r>
            <a:endParaRPr b="0" lang="en-CA" sz="1800" spc="-1" strike="noStrike">
              <a:latin typeface="Nirmala UI Semilight"/>
            </a:endParaRPr>
          </a:p>
          <a:p>
            <a:pPr marL="432000" indent="-324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CA" sz="2400" spc="-1" strike="noStrike">
              <a:latin typeface="Nirmala UI Semi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© 2025 Innovation In Software Corporation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170365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2016-09-10T10:34:19Z</dcterms:created>
  <dc:creator>Donis Marshall</dc:creator>
  <dc:description/>
  <dc:language>en-CA</dc:language>
  <cp:lastModifiedBy>Rod Davison</cp:lastModifiedBy>
  <cp:lastPrinted>2025-11-29T13:50:21Z</cp:lastPrinted>
  <dcterms:modified xsi:type="dcterms:W3CDTF">2025-12-19T07:44:25Z</dcterms:modified>
  <cp:revision>9189</cp:revision>
  <dc:subject>Risk Bootcamp</dc:subject>
  <dc:title>Capstone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Widescreen</vt:lpwstr>
  </property>
  <property fmtid="{D5CDD505-2E9C-101B-9397-08002B2CF9AE}" pid="4" name="Slides">
    <vt:r8>52</vt:r8>
  </property>
</Properties>
</file>