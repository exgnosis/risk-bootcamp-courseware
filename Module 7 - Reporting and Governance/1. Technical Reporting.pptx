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32.xml.rels" ContentType="application/vnd.openxmlformats-package.relationships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84.xml.rels" ContentType="application/vnd.openxmlformats-package.relationships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media/image1.jpeg" ContentType="image/jpeg"/>
  <Override PartName="/ppt/media/image3.png" ContentType="image/png"/>
  <Override PartName="/ppt/media/image2.png" ContentType="image/png"/>
  <Override PartName="/ppt/media/image4.jpeg" ContentType="image/jpe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</p:sldIdLst>
  <p:sldSz cx="12192000" cy="6858000"/>
  <p:notesSz cx="7010400" cy="9296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Click to move the slide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CA" sz="2000" spc="-1" strike="noStrike">
                <a:latin typeface="Arial"/>
              </a:rPr>
              <a:t>Click to edit the notes format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CA" sz="1400" spc="-1" strike="noStrike">
                <a:latin typeface="Times New Roman"/>
              </a:rPr>
              <a:t>&lt;header&gt;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313" name="PlaceHolder 4"/>
          <p:cNvSpPr>
            <a:spLocks noGrp="1"/>
          </p:cNvSpPr>
          <p:nvPr>
            <p:ph type="dt" idx="20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CA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314" name="PlaceHolder 5"/>
          <p:cNvSpPr>
            <a:spLocks noGrp="1"/>
          </p:cNvSpPr>
          <p:nvPr>
            <p:ph type="ftr" idx="21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&lt;footer&gt;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315" name="PlaceHolder 6"/>
          <p:cNvSpPr>
            <a:spLocks noGrp="1"/>
          </p:cNvSpPr>
          <p:nvPr>
            <p:ph type="sldNum" idx="22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CA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D17CAE37-CAAD-45FF-8EE8-E1F0C26EB1FA}" type="slidenum">
              <a:rPr b="0" lang="en-CA" sz="1400" spc="-1" strike="noStrike">
                <a:latin typeface="Times New Roman"/>
              </a:rPr>
              <a:t>&lt;number&gt;</a:t>
            </a:fld>
            <a:endParaRPr b="0" lang="en-CA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CA" sz="20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CA" sz="20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CA" sz="2000" spc="-1" strike="noStrike"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24"/>
          </p:nvPr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219AC57-AAA7-40B2-AE2E-024F6CE63A0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irmala UI Semilight"/>
              </a:rPr>
              <a:t>Now is the time to engage in an interactive Q&amp;A session where you can ask questions, share insights, and clarify any doubts about the topics we have covered so far.</a:t>
            </a:r>
            <a:endParaRPr b="0" lang="en-CA" sz="12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irmala UI Semilight"/>
              </a:rPr>
              <a:t>This open discussion is designed to ensure that every participant has the opportunity to voice their thoughts and learn from the collective experience of the group.</a:t>
            </a:r>
            <a:endParaRPr b="0" lang="en-CA" sz="12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irmala UI Semilight"/>
              </a:rPr>
              <a:t>Your questions and comments are valuable as they help us identify areas that may need further explanation and enable us to tailor future sessions to your needs.</a:t>
            </a:r>
            <a:endParaRPr b="0" lang="en-CA" sz="12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irmala UI Semilight"/>
              </a:rPr>
              <a:t>We encourage you to speak up and contribute to the dialogue, as this interaction is one of the key components of our interactive learning approach.</a:t>
            </a:r>
            <a:endParaRPr b="0" lang="en-CA" sz="12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irmala UI Semilight"/>
              </a:rPr>
              <a:t>As the session progresses, take note of any questions or ideas that you would like to revisit, and feel free to share your perspectives with the class.</a:t>
            </a:r>
            <a:endParaRPr b="0" lang="en-CA" sz="1200" spc="-1" strike="noStrike"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25"/>
          </p:nvPr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32253478-4978-4BB9-9FA5-4C790FD77C5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6CB361B-2AE7-4D3B-BEB8-F8E131FB963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9F11EB3-6859-44B0-BBB2-67E46A4FD9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B9D0D7E-6F06-4BAC-BB54-68BBA4C483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D54946C-1700-4672-8603-6AEB2D1117D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E93776A-B327-41CC-AB43-35D8FBC0D08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BE1F6E1-686F-40F8-9E27-A363BE499B2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1FDCD7A-1D2A-4B1B-A6E6-C8C0CBE3ACF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C23BA23-7744-4860-B5D5-135670350A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97A98C8-439B-4640-BD7C-B216BC7A4C4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0BAD2F7-9D63-423D-89E6-25FF5508EEE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653D703-4FFF-4AE4-8F87-5A9C4CA8A51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9C9714E-31B6-43F4-8DEB-B3E7E586D25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2D0F664-D0CB-4589-BB55-3B78F276C4D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3D3539B-6A90-4225-BEA6-D5049EA81A7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E005B9E-A333-414F-A336-82FD7898F9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8EDA185-AB29-4679-BDA8-62951469D5D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F10E762-684C-46EF-B07F-1CFE51C1F79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D9212E8-F594-4BFF-9A6A-7D97B17218E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855F0DB-AA50-438E-8308-782C3175C1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C28D41B-1D94-465B-8C9E-E8345E1A95F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567CF84-6122-48F7-B554-29CFB42FC02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9E51D60-6E4B-42F1-97B1-8285A2BE4F1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3C725BF-AC36-45B1-A30F-541E6604F3B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13A2C7B-BB17-4FD2-9DF5-73CAD622B03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0FD15F1-DD51-431B-9FCE-F958018D3D65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E2418DE-E2FD-44EF-8A74-6C5F8A151D1E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313B0EB-AC5A-4239-B083-F56490D506F9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E0D7512-8740-4DE7-869F-BC5FF9ECB213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79B3960-8CA2-4FEE-97A0-B872CF4A8B41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9A16334-3656-46BB-8D0D-C9112FB31AE5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204BAC7-4322-43D5-852B-21D0BC07B417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2676892-1527-4D73-B8F4-2FC5A5022C0C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C6C5656-25DE-4CC4-A36E-25F9A8956D39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443D6E9-E2FD-45B1-B66E-6DE1C64056E7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5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7D35803-F288-44E0-A012-615008AE75A5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31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32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AD75C3B-99F8-4DD3-B9FD-2A39E08F39E8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E509604B-4808-410E-902A-2F5117CB3DA4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57C83271-C973-4F04-A83D-7909569589E0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E950A4A9-6751-4493-AC79-41E9F067530C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C1A6E940-BE7E-42F6-A66A-E0B9C6D3F90C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B21B3285-AD4C-4075-ACD6-A2EE9567F5C5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01686B64-61AA-4410-B3DA-3C2C83DE54F9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738D2F9C-DA02-4C9C-AB90-74BD692DF22B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CF51E06D-2833-4DE1-927D-889D948B1D44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1050135A-AD8A-48B4-B7E1-93518BEABC51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7FAF9D6B-0305-4551-B0C6-AED9ECEC1226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67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A7F3D484-2C35-4B7C-859D-4A3C9E575771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3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4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EC7DC187-FD4A-4F72-B81C-D2DEB55A8808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EFD9C32-BED4-4A3A-B65C-68EB344B907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1383389-3E37-4AE3-9F09-6F5887D28F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9D595DF-0A3A-4E51-ACD4-3B5B929A6C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809BA8F-0300-434C-BADE-5E068EB85A8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3937988-904B-4FD0-AC81-2B89E0A6764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559BBA5-27EB-41EA-8641-B4B23E56E25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23A6C5D-AA9A-40D2-9CE9-2E009B115B4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BE60BB8-F99B-4DD0-BDD4-B4C0E32A9B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3E54337-A508-4018-9AB8-39CA043D77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D1338E2-3B73-422A-9FF8-6AA8BE49187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2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9EF1B26-F8F9-4F55-8353-99C334D095A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7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8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9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C536CC5-3D77-4A5F-9D89-0F353C8AC1A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E357B89-D971-4EE7-8F67-0870EA06185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8691876-F5C7-479E-B979-EAD5915FBA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B6D54D3D-2C84-45A2-9D10-E92839F7A1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EF3846E-506F-4EEB-A349-E28C1695B7A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9866E94-2685-4406-AC79-E56EE20B866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FEA652B-EBBD-4437-86DD-5DC7F5B06E9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B51B4B49-D612-4A11-A013-462D3B7DF1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5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6D5EC9E-9277-4DD2-84BC-72DC052B686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F66C0FB-68E4-4129-9A82-09FD8D5FA42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B9A3A85-D5EE-46EB-A63B-0F28250D4CC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7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B328651-C076-47B4-B521-53C95086A1F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1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2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3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4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7E35F6E-1447-4A22-BEBE-2A1C9FCB590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50B6B3B0-E53C-4019-A536-1E3BD30EAAB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4A76A597-BF10-4043-B590-3F7B5C4397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06F992BE-58A7-4CEB-AA65-43DE6DB9AF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70D903B6-20A0-4532-A536-A8EF3C4BD3C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BAA612FC-1081-4BC7-9863-9B3172538D5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1E4FF51D-EB9B-4349-A5FF-2CF52047066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8958301B-3A89-4A8F-A844-A9538D3FF93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0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D6616977-AEC3-49F5-A657-2405EB6D06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4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45E4DDCD-770B-41AD-BE08-BCF2E34FE7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B70B027A-92F1-4F37-BA95-498B8B6B68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2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38571F7C-1C18-4012-9F4F-B7B2D6A39A2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6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7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8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9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8EF6FBBE-9C3A-4C10-99EC-2A850C7F827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 hidden="1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Rectangle 7" hidden="1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Rectangle 8"/>
          <p:cNvSpPr/>
          <p:nvPr/>
        </p:nvSpPr>
        <p:spPr>
          <a:xfrm>
            <a:off x="12001320" y="4846320"/>
            <a:ext cx="189360" cy="201060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Rectangle 9"/>
          <p:cNvSpPr/>
          <p:nvPr/>
        </p:nvSpPr>
        <p:spPr>
          <a:xfrm>
            <a:off x="12001320" y="0"/>
            <a:ext cx="189360" cy="484524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Click to edit the title text format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B305BF23-0DA9-43DD-825D-1E6220AA99F0}" type="slidenum">
              <a:rPr b="1" lang="en-US" sz="2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3"/>
          </p:nvPr>
        </p:nvSpPr>
        <p:spPr>
          <a:xfrm>
            <a:off x="609480" y="6172200"/>
            <a:ext cx="4570920" cy="30384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424800" y="1015200"/>
            <a:ext cx="1099440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Click to edit the outline text format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Second Outline Level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Third Outline Level</a:t>
            </a:r>
            <a:endParaRPr b="0" lang="en-CA" sz="1400" spc="-1" strike="noStrike">
              <a:latin typeface="Nirmala UI Semiligh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Nirmala UI Semilight"/>
              </a:rPr>
              <a:t>Fourth Outline Level</a:t>
            </a:r>
            <a:endParaRPr b="0" lang="en-CA" sz="2000" spc="-1" strike="noStrike">
              <a:latin typeface="Nirmala UI Semiligh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Fifth Outline Level</a:t>
            </a:r>
            <a:endParaRPr b="0" lang="en-CA" sz="2000" spc="-1" strike="noStrike">
              <a:latin typeface="Nirmala UI Semiligh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Sixth Outline Level</a:t>
            </a:r>
            <a:endParaRPr b="0" lang="en-CA" sz="2000" spc="-1" strike="noStrike">
              <a:latin typeface="Nirmala UI Semiligh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Seventh Outline Level</a:t>
            </a:r>
            <a:endParaRPr b="0" lang="en-CA" sz="2000" spc="-1" strike="noStrike">
              <a:latin typeface="Nirmala UI Semi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6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Rectangle 7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cxnSp>
        <p:nvCxnSpPr>
          <p:cNvPr id="47" name="Straight Connector 8"/>
          <p:cNvCxnSpPr/>
          <p:nvPr/>
        </p:nvCxnSpPr>
        <p:spPr>
          <a:xfrm>
            <a:off x="6663240" y="1656720"/>
            <a:ext cx="1080" cy="4444920"/>
          </a:xfrm>
          <a:prstGeom prst="straightConnector1">
            <a:avLst/>
          </a:prstGeom>
          <a:ln w="9360">
            <a:solidFill>
              <a:srgbClr val="9d1e23"/>
            </a:solidFill>
            <a:round/>
          </a:ln>
        </p:spPr>
      </p:cxn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Click to edit the title text format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Click to edit the outline text format</a:t>
            </a:r>
            <a:endParaRPr b="0" lang="en-CA" sz="20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en-CA" sz="1600" spc="-1" strike="noStrike">
                <a:latin typeface="Nirmala UI Semilight"/>
              </a:rPr>
              <a:t>Second Outline Level</a:t>
            </a:r>
            <a:endParaRPr b="0" lang="en-CA" sz="1600" spc="-1" strike="noStrike">
              <a:latin typeface="Nirmala UI Semilight"/>
            </a:endParaRPr>
          </a:p>
          <a:p>
            <a:pPr lvl="2" marL="1296000" indent="-2880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Third Outline Level</a:t>
            </a:r>
            <a:endParaRPr b="0" lang="en-CA" sz="1400" spc="-1" strike="noStrike">
              <a:latin typeface="Nirmala UI Semiligh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Nirmala UI Semilight"/>
              </a:rPr>
              <a:t>Fourth Outline Level</a:t>
            </a:r>
            <a:endParaRPr b="0" lang="en-CA" sz="2000" spc="-1" strike="noStrike">
              <a:latin typeface="Nirmala UI Semiligh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Fifth Outline Level</a:t>
            </a:r>
            <a:endParaRPr b="0" lang="en-CA" sz="2000" spc="-1" strike="noStrike">
              <a:latin typeface="Nirmala UI Semiligh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Sixth Outline Level</a:t>
            </a:r>
            <a:endParaRPr b="0" lang="en-CA" sz="2000" spc="-1" strike="noStrike">
              <a:latin typeface="Nirmala UI Semiligh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Seventh Outline Level</a:t>
            </a:r>
            <a:endParaRPr b="0" lang="en-CA" sz="2000" spc="-1" strike="noStrike">
              <a:latin typeface="Nirmala UI Semilight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581544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Click to edit the outline text format</a:t>
            </a:r>
            <a:endParaRPr b="0" lang="en-CA" sz="20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en-CA" sz="1600" spc="-1" strike="noStrike">
                <a:latin typeface="Nirmala UI Semilight"/>
              </a:rPr>
              <a:t>Second Outline Level</a:t>
            </a:r>
            <a:endParaRPr b="0" lang="en-CA" sz="1600" spc="-1" strike="noStrike">
              <a:latin typeface="Nirmala UI Semilight"/>
            </a:endParaRPr>
          </a:p>
          <a:p>
            <a:pPr lvl="2" marL="1296000" indent="-2880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Third Outline Level</a:t>
            </a:r>
            <a:endParaRPr b="0" lang="en-CA" sz="1400" spc="-1" strike="noStrike">
              <a:latin typeface="Nirmala UI Semiligh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Nirmala UI Semilight"/>
              </a:rPr>
              <a:t>Fourth Outline Level</a:t>
            </a:r>
            <a:endParaRPr b="0" lang="en-CA" sz="2000" spc="-1" strike="noStrike">
              <a:latin typeface="Nirmala UI Semiligh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Fifth Outline Level</a:t>
            </a:r>
            <a:endParaRPr b="0" lang="en-CA" sz="2000" spc="-1" strike="noStrike">
              <a:latin typeface="Nirmala UI Semiligh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Sixth Outline Level</a:t>
            </a:r>
            <a:endParaRPr b="0" lang="en-CA" sz="2000" spc="-1" strike="noStrike">
              <a:latin typeface="Nirmala UI Semiligh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Seventh Outline Level</a:t>
            </a:r>
            <a:endParaRPr b="0" lang="en-CA" sz="2000" spc="-1" strike="noStrike">
              <a:latin typeface="Nirmala UI Semilight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ftr" idx="4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5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1CDCE78A-E2C4-479B-9F9C-803264F65578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dt" idx="6"/>
          </p:nvPr>
        </p:nvSpPr>
        <p:spPr>
          <a:xfrm>
            <a:off x="609480" y="6172200"/>
            <a:ext cx="4570920" cy="30384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6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Rectangle 7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cxnSp>
        <p:nvCxnSpPr>
          <p:cNvPr id="92" name="Straight Connector 8"/>
          <p:cNvCxnSpPr/>
          <p:nvPr/>
        </p:nvCxnSpPr>
        <p:spPr>
          <a:xfrm>
            <a:off x="6663240" y="1541160"/>
            <a:ext cx="1080" cy="4444920"/>
          </a:xfrm>
          <a:prstGeom prst="straightConnector1">
            <a:avLst/>
          </a:prstGeom>
          <a:ln w="9360">
            <a:solidFill>
              <a:srgbClr val="9d1e23"/>
            </a:solidFill>
            <a:round/>
          </a:ln>
        </p:spPr>
      </p:cxnSp>
      <p:sp>
        <p:nvSpPr>
          <p:cNvPr id="93" name="PlaceHolder 1"/>
          <p:cNvSpPr>
            <a:spLocks noGrp="1"/>
          </p:cNvSpPr>
          <p:nvPr>
            <p:ph type="ftr" idx="7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ldNum" idx="8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0567B480-4648-4EC1-83A4-B99F45F0EAE4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CA" sz="4400" spc="-1" strike="noStrike">
                <a:latin typeface="Arial"/>
              </a:rPr>
              <a:t>Click to edit the title text format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6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Rectangle 7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CA" sz="4400" spc="-1" strike="noStrike">
                <a:latin typeface="Arial"/>
              </a:rPr>
              <a:t>Click to edit the title text format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ftr" idx="9"/>
          </p:nvPr>
        </p:nvSpPr>
        <p:spPr>
          <a:xfrm>
            <a:off x="44280" y="657432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a6a6a6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6a6a6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sldNum" idx="10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794FC9FD-FED0-452F-9FE1-D46A82A9D087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6" hidden="1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Rectangle 7" hidden="1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Rectangle 8"/>
          <p:cNvSpPr/>
          <p:nvPr/>
        </p:nvSpPr>
        <p:spPr>
          <a:xfrm>
            <a:off x="12001320" y="4846320"/>
            <a:ext cx="189360" cy="201060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Rectangle 9"/>
          <p:cNvSpPr/>
          <p:nvPr/>
        </p:nvSpPr>
        <p:spPr>
          <a:xfrm>
            <a:off x="12001320" y="0"/>
            <a:ext cx="189360" cy="484524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Click to edit the title text format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ftr" idx="11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12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15AA2753-3E20-41C8-AB40-743A2B101A15}" type="slidenum">
              <a:rPr b="1" lang="en-US" sz="2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 type="dt" idx="13"/>
          </p:nvPr>
        </p:nvSpPr>
        <p:spPr>
          <a:xfrm>
            <a:off x="609480" y="6172200"/>
            <a:ext cx="4570920" cy="30384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183" name="PlaceHolder 5"/>
          <p:cNvSpPr>
            <a:spLocks noGrp="1"/>
          </p:cNvSpPr>
          <p:nvPr>
            <p:ph type="body"/>
          </p:nvPr>
        </p:nvSpPr>
        <p:spPr>
          <a:xfrm>
            <a:off x="424800" y="1015200"/>
            <a:ext cx="1099440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Click to edit the outline text format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Second Outline Level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Third Outline Level</a:t>
            </a:r>
            <a:endParaRPr b="0" lang="en-CA" sz="1400" spc="-1" strike="noStrike">
              <a:latin typeface="Nirmala UI Semiligh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Nirmala UI Semilight"/>
              </a:rPr>
              <a:t>Fourth Outline Level</a:t>
            </a:r>
            <a:endParaRPr b="0" lang="en-CA" sz="2000" spc="-1" strike="noStrike">
              <a:latin typeface="Nirmala UI Semiligh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Fifth Outline Level</a:t>
            </a:r>
            <a:endParaRPr b="0" lang="en-CA" sz="2000" spc="-1" strike="noStrike">
              <a:latin typeface="Nirmala UI Semiligh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Sixth Outline Level</a:t>
            </a:r>
            <a:endParaRPr b="0" lang="en-CA" sz="2000" spc="-1" strike="noStrike">
              <a:latin typeface="Nirmala UI Semiligh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Seventh Outline Level</a:t>
            </a:r>
            <a:endParaRPr b="0" lang="en-CA" sz="2000" spc="-1" strike="noStrike">
              <a:latin typeface="Nirmala UI Semi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angle 6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Rectangle 7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cxnSp>
        <p:nvCxnSpPr>
          <p:cNvPr id="222" name="Straight Connector 8"/>
          <p:cNvCxnSpPr/>
          <p:nvPr/>
        </p:nvCxnSpPr>
        <p:spPr>
          <a:xfrm>
            <a:off x="6663240" y="1656720"/>
            <a:ext cx="1080" cy="4444920"/>
          </a:xfrm>
          <a:prstGeom prst="straightConnector1">
            <a:avLst/>
          </a:prstGeom>
          <a:ln w="9360">
            <a:solidFill>
              <a:srgbClr val="9d1e23"/>
            </a:solidFill>
            <a:round/>
          </a:ln>
        </p:spPr>
      </p:cxnSp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CA" sz="4400" spc="-1" strike="noStrike">
                <a:latin typeface="Arial"/>
              </a:rPr>
              <a:t>Click to edit the title text format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body"/>
          </p:nvPr>
        </p:nvSpPr>
        <p:spPr>
          <a:xfrm>
            <a:off x="581544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 type="ftr" idx="14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227" name="PlaceHolder 5"/>
          <p:cNvSpPr>
            <a:spLocks noGrp="1"/>
          </p:cNvSpPr>
          <p:nvPr>
            <p:ph type="sldNum" idx="15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2AA03770-D76A-4A92-8DC0-240B0F3CBAF0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228" name="PlaceHolder 6"/>
          <p:cNvSpPr>
            <a:spLocks noGrp="1"/>
          </p:cNvSpPr>
          <p:nvPr>
            <p:ph type="dt" idx="16"/>
          </p:nvPr>
        </p:nvSpPr>
        <p:spPr>
          <a:xfrm>
            <a:off x="609480" y="6172200"/>
            <a:ext cx="4570920" cy="30384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Rectangle 6"/>
          <p:cNvSpPr/>
          <p:nvPr/>
        </p:nvSpPr>
        <p:spPr>
          <a:xfrm>
            <a:off x="12001320" y="0"/>
            <a:ext cx="190080" cy="137124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Rectangle 7"/>
          <p:cNvSpPr/>
          <p:nvPr/>
        </p:nvSpPr>
        <p:spPr>
          <a:xfrm>
            <a:off x="12001320" y="1371600"/>
            <a:ext cx="190080" cy="548604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7721280" cy="1371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60" strike="noStrike" cap="all">
                <a:solidFill>
                  <a:srgbClr val="d1282e"/>
                </a:solidFill>
                <a:latin typeface="Arial Black"/>
              </a:rPr>
              <a:t>Click to edit Master title style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2174400" y="1574640"/>
            <a:ext cx="438876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"/>
              </a:rPr>
              <a:t>Edit Master text styles</a:t>
            </a:r>
            <a:endParaRPr b="1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body"/>
          </p:nvPr>
        </p:nvSpPr>
        <p:spPr>
          <a:xfrm>
            <a:off x="6786720" y="1574640"/>
            <a:ext cx="438876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"/>
              </a:rPr>
              <a:t>Edit Master text styles</a:t>
            </a:r>
            <a:endParaRPr b="1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182880">
              <a:lnSpc>
                <a:spcPct val="100000"/>
              </a:lnSpc>
              <a:spcBef>
                <a:spcPts val="479"/>
              </a:spcBef>
              <a:buClr>
                <a:srgbClr val="d1282e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d1282e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60"/>
              </a:spcBef>
              <a:buClr>
                <a:srgbClr val="d1282e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60"/>
              </a:spcBef>
              <a:buClr>
                <a:srgbClr val="d1282e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4"/>
          <p:cNvSpPr>
            <a:spLocks noGrp="1"/>
          </p:cNvSpPr>
          <p:nvPr>
            <p:ph type="dt" idx="17"/>
          </p:nvPr>
        </p:nvSpPr>
        <p:spPr>
          <a:xfrm>
            <a:off x="609480" y="6172200"/>
            <a:ext cx="4571640" cy="30456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lnSpc>
                <a:spcPct val="100000"/>
              </a:lnSpc>
              <a:buNone/>
              <a:defRPr b="0" lang="en-US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271" name="PlaceHolder 5"/>
          <p:cNvSpPr>
            <a:spLocks noGrp="1"/>
          </p:cNvSpPr>
          <p:nvPr>
            <p:ph type="ftr" idx="18"/>
          </p:nvPr>
        </p:nvSpPr>
        <p:spPr>
          <a:xfrm>
            <a:off x="609480" y="6492960"/>
            <a:ext cx="4571640" cy="283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272" name="PlaceHolder 6"/>
          <p:cNvSpPr>
            <a:spLocks noGrp="1"/>
          </p:cNvSpPr>
          <p:nvPr>
            <p:ph type="sldNum" idx="19"/>
          </p:nvPr>
        </p:nvSpPr>
        <p:spPr>
          <a:xfrm rot="16200000">
            <a:off x="11188800" y="5824800"/>
            <a:ext cx="1315440" cy="486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</a:pPr>
            <a:fld id="{11FE808A-76DD-433F-8879-7BA434D41F6D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cxnSp>
        <p:nvCxnSpPr>
          <p:cNvPr id="273" name="Straight Connector 8"/>
          <p:cNvCxnSpPr/>
          <p:nvPr/>
        </p:nvCxnSpPr>
        <p:spPr>
          <a:xfrm>
            <a:off x="6663240" y="1656720"/>
            <a:ext cx="360" cy="4444200"/>
          </a:xfrm>
          <a:prstGeom prst="straightConnector1">
            <a:avLst/>
          </a:prstGeom>
          <a:ln w="9360">
            <a:solidFill>
              <a:srgbClr val="9d1e23"/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3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Picture 5" descr=""/>
          <p:cNvPicPr/>
          <p:nvPr/>
        </p:nvPicPr>
        <p:blipFill>
          <a:blip r:embed="rId1"/>
          <a:stretch/>
        </p:blipFill>
        <p:spPr>
          <a:xfrm>
            <a:off x="0" y="1303920"/>
            <a:ext cx="12191040" cy="6094800"/>
          </a:xfrm>
          <a:prstGeom prst="rect">
            <a:avLst/>
          </a:prstGeom>
          <a:ln w="0">
            <a:noFill/>
          </a:ln>
        </p:spPr>
      </p:pic>
      <p:sp>
        <p:nvSpPr>
          <p:cNvPr id="317" name="PlaceHolder 1"/>
          <p:cNvSpPr>
            <a:spLocks noGrp="1"/>
          </p:cNvSpPr>
          <p:nvPr>
            <p:ph type="ftr" idx="23"/>
          </p:nvPr>
        </p:nvSpPr>
        <p:spPr>
          <a:xfrm>
            <a:off x="9588960" y="127440"/>
            <a:ext cx="2602080" cy="339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rgbClr val="a6a6a6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6a6a6"/>
                </a:solidFill>
                <a:latin typeface="Arial"/>
              </a:rPr>
              <a:t>“</a:t>
            </a:r>
            <a:r>
              <a:rPr b="0" lang="en-US" sz="1100" spc="-1" strike="noStrike">
                <a:solidFill>
                  <a:srgbClr val="a6a6a6"/>
                </a:solidFill>
                <a:latin typeface="Arial"/>
              </a:rPr>
              <a:t>Develop a passion for learning.”</a:t>
            </a:r>
            <a:endParaRPr b="0" lang="en-CA" sz="1100" spc="-1" strike="noStrike">
              <a:latin typeface="Times New Roman"/>
            </a:endParaRPr>
          </a:p>
        </p:txBody>
      </p:sp>
      <p:sp>
        <p:nvSpPr>
          <p:cNvPr id="318" name="Text Box 2"/>
          <p:cNvSpPr/>
          <p:nvPr/>
        </p:nvSpPr>
        <p:spPr>
          <a:xfrm>
            <a:off x="58680" y="468000"/>
            <a:ext cx="10306080" cy="12258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7000"/>
              </a:lnSpc>
              <a:spcAft>
                <a:spcPts val="799"/>
              </a:spcAft>
              <a:buNone/>
            </a:pPr>
            <a:r>
              <a:rPr b="0" lang="en-US" sz="3600" spc="-1" strike="noStrike">
                <a:solidFill>
                  <a:srgbClr val="ff0000"/>
                </a:solidFill>
                <a:latin typeface="Gadugi"/>
                <a:ea typeface="Calibri"/>
              </a:rPr>
              <a:t>RISK AND RESILIENCE BOOTCAMP</a:t>
            </a:r>
            <a:br>
              <a:rPr sz="3600"/>
            </a:br>
            <a:endParaRPr b="0" lang="en-CA" sz="3600" spc="-1" strike="noStrike">
              <a:latin typeface="Arial"/>
            </a:endParaRPr>
          </a:p>
        </p:txBody>
      </p:sp>
      <p:sp>
        <p:nvSpPr>
          <p:cNvPr id="319" name="Oval 1"/>
          <p:cNvSpPr/>
          <p:nvPr/>
        </p:nvSpPr>
        <p:spPr>
          <a:xfrm>
            <a:off x="11068920" y="5891760"/>
            <a:ext cx="619200" cy="619200"/>
          </a:xfrm>
          <a:prstGeom prst="ellipse">
            <a:avLst/>
          </a:prstGeom>
          <a:solidFill>
            <a:srgbClr val="7a7a7a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Arial"/>
              </a:rPr>
              <a:t>1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60" strike="noStrike" cap="all">
                <a:solidFill>
                  <a:srgbClr val="d1282e"/>
                </a:solidFill>
                <a:latin typeface="Leelawadee UI Semilight"/>
              </a:rPr>
              <a:t>Risk Response Strategies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r>
              <a:rPr b="0" lang="en-CA" sz="2000" spc="-1" strike="noStrike">
                <a:latin typeface="Nirmala UI Semilight"/>
              </a:rPr>
              <a:t>This module is an introduction to the standard risk response strategies</a:t>
            </a:r>
            <a:endParaRPr b="0" lang="en-CA" sz="20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en-CA" sz="1600" spc="-1" strike="noStrike">
                <a:latin typeface="Nirmala UI Semilight"/>
              </a:rPr>
              <a:t>Avoid</a:t>
            </a:r>
            <a:endParaRPr b="0" lang="en-CA" sz="16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en-CA" sz="1600" spc="-1" strike="noStrike">
                <a:latin typeface="Nirmala UI Semilight"/>
              </a:rPr>
              <a:t>Mitigate</a:t>
            </a:r>
            <a:endParaRPr b="0" lang="en-CA" sz="16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en-CA" sz="1600" spc="-1" strike="noStrike">
                <a:latin typeface="Nirmala UI Semilight"/>
              </a:rPr>
              <a:t>Transfer</a:t>
            </a:r>
            <a:endParaRPr b="0" lang="en-CA" sz="16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en-CA" sz="1600" spc="-1" strike="noStrike">
                <a:latin typeface="Nirmala UI Semilight"/>
              </a:rPr>
              <a:t>Accept</a:t>
            </a:r>
            <a:endParaRPr b="0" lang="en-CA" sz="16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CA" sz="1600" spc="-1" strike="noStrike">
              <a:latin typeface="Nirmala UI Semilight"/>
            </a:endParaRPr>
          </a:p>
        </p:txBody>
      </p:sp>
      <p:pic>
        <p:nvPicPr>
          <p:cNvPr id="322" name="" descr=""/>
          <p:cNvPicPr/>
          <p:nvPr/>
        </p:nvPicPr>
        <p:blipFill>
          <a:blip r:embed="rId1"/>
          <a:stretch/>
        </p:blipFill>
        <p:spPr>
          <a:xfrm>
            <a:off x="7502400" y="1783080"/>
            <a:ext cx="3499200" cy="349920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Technical Reporting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/>
          </p:nvPr>
        </p:nvSpPr>
        <p:spPr>
          <a:xfrm>
            <a:off x="503640" y="10335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Operational backbone of IT risk management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Aimed at engineers, analysts, architects, and security operators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Provides granular, data-rich insight required to understand, mitigate, and prevent risk conditions in complex technology ecosystems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Executive reporting abstracts risk into strategic language</a:t>
            </a:r>
            <a:endParaRPr b="0" lang="en-CA" sz="24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Technical reporting focuses on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Precision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Evidence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System-level details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Enables hands-on experts to take corrective action quickly</a:t>
            </a:r>
            <a:endParaRPr b="0" lang="en-CA" sz="2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Purpose of Technical Reporting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/>
          </p:nvPr>
        </p:nvSpPr>
        <p:spPr>
          <a:xfrm>
            <a:off x="503640" y="10335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Detect emerging vulnerabilities and operational weaknesses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Technical reports document: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Zero-day or high-severity vulnerabilities affecting critical systems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Weak configuration patterns (e.g., permissive IAM roles, open storage buckets)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Drift from security baselines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Accumulating technical debt that introduces systemic risk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Early detection allows teams to intervene before problems escalate into incidents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Purpose of Technical Reporting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/>
          </p:nvPr>
        </p:nvSpPr>
        <p:spPr>
          <a:xfrm>
            <a:off x="503640" y="10335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Communicate the status of controls and KPIs/KRIs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Provides objective measurements of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Preventive controls (patching, access control, network segmentation)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Detective controls (logging, monitoring, anomaly detection)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Corrective controls (backup recovery, failover readiness)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KPIs and KRIs reveal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Control degradation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Capacity issues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Operational health trends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The onset of fragility in critical systems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For example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Rising authentication failures may indicate credential stuffing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Increasing backup validation failures may signal latent DR risk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Purpose of Technical Reporting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/>
          </p:nvPr>
        </p:nvSpPr>
        <p:spPr>
          <a:xfrm>
            <a:off x="503640" y="10335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Support forensic and incident response activities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Incident response requires accurate, timestamped, contextualized technical evidence, such as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Log sequences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Host telemetry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IAM events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Process execution traces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Alert correlation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Technical reports consolidate this data into a narrative that helps responders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Reconstruct attack paths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Validate root causes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Understand the blast radius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Identify whether threats remain active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Purpose of Technical Reporting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/>
          </p:nvPr>
        </p:nvSpPr>
        <p:spPr>
          <a:xfrm>
            <a:off x="503640" y="10335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Provide architecture teams with insight into systemic risk patterns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Architects need risk data to guide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Cloud design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Network segmentation strategy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Microservice resiliency patterns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Identity and access models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Data governance structures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Technical reporting reveals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Repeating incident themes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Concentrations of vulnerabilities within an architecture pattern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Hotspots where security controls consistently underperform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System couplings that amplify risk during failures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Purpose of Technical Reporting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/>
          </p:nvPr>
        </p:nvSpPr>
        <p:spPr>
          <a:xfrm>
            <a:off x="503640" y="10335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Validate whether technical mitigation plans are effective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Mitigation is not “proven” because tasks were performed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Mitigation is proven because metrics measure that risk declined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Technical reporting validates mitigation effectiveness by measuring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Reduction in vulnerability counts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Decrease in anomalous activity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Improved MTTR/MTTD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Strengthened control performance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This closes the loop between risk reduction effort and actual reduction in risk exposure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Content – Risk data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/>
          </p:nvPr>
        </p:nvSpPr>
        <p:spPr>
          <a:xfrm>
            <a:off x="503640" y="10335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Risk IDs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Provides traceability and links risk records across systems (risk register, GRC platform)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Categories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Examples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Cyber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Operational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Resilience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Third-party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Compliance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Categorization allows aggregated analysis and governance review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Severity rankings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Derived from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Likelihood × Impact scoring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Velocity (speed with which risk becomes incident)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Control strength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Severity informs prioritization and escalation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Content – Risk data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/>
          </p:nvPr>
        </p:nvSpPr>
        <p:spPr>
          <a:xfrm>
            <a:off x="503640" y="10335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000"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Inherent versus residual risk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Shows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Inherent risk: What exposure would be with no controls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Residual risk: Exposure after controls are applied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This gap measures control effectiveness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Probability, impact and velocity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Probability: chance of failure or attack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Impact: operational, financial, reputational magnitude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Velocity: How fast risk materializes 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For example: high for cyberattacks, medium for misconfiguration, low for tech debt</a:t>
            </a:r>
            <a:endParaRPr b="0" lang="en-CA" sz="14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Affected assets with criticality context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Example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“</a:t>
            </a:r>
            <a:r>
              <a:rPr b="0" lang="en-CA" sz="1400" spc="-1" strike="noStrike">
                <a:latin typeface="Nirmala UI Semilight"/>
              </a:rPr>
              <a:t>Affected component: Payment API Gateway (Tier 1 critical business service)”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Criticality defines urgency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Content – Logs and Telemetry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/>
          </p:nvPr>
        </p:nvSpPr>
        <p:spPr>
          <a:xfrm>
            <a:off x="503640" y="10335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Telemetry is the ground truth of technical risk reporting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It provides objective, time-aligned evidence of abnormal or concerning behavior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Key telemetry types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Authentication logs which reveal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Credential abuse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Brute-force attempts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MFA bypass attempts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Suspicious access patterns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Content – Logs and Telemetry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/>
          </p:nvPr>
        </p:nvSpPr>
        <p:spPr>
          <a:xfrm>
            <a:off x="503640" y="10335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Endpoint detection events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From EDR platforms (CrowdStrike, SentinelOne)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Malware detection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Suspicious processes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Lateral movement behavior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Privilege escalations</a:t>
            </a:r>
            <a:endParaRPr b="0" lang="en-CA" sz="14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Network anomalies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Examples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Unusual outbound traffic (potential exfiltration)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East-west traffic spikes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Unusual ports or protocols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These often indicate early-stage compromises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Content – Logs and Telemetry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/>
          </p:nvPr>
        </p:nvSpPr>
        <p:spPr>
          <a:xfrm>
            <a:off x="503640" y="10335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Cloud audit logs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CloudTrail, Azure Activity Logs, GCP Audit Logs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IAM role changes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Policy modifications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Permission drift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Service account usage patterns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Infrastructure-as-Code drift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Audit logs are essential for cloud forensics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Content – Logs and Telemetry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/>
          </p:nvPr>
        </p:nvSpPr>
        <p:spPr>
          <a:xfrm>
            <a:off x="503640" y="10335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System performance indicators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Operational risk often emerges from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CPU/memory saturation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Queue depth spikes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Latency deviations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Storage errors or replication lag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Performance telemetry often correlates with resilience risks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Content – Threat Indicators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/>
          </p:nvPr>
        </p:nvSpPr>
        <p:spPr>
          <a:xfrm>
            <a:off x="503640" y="10335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Indicators of compromise (IoCs)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Examples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Malicious IP addresses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Hashes of known malware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Domains used for command-and-control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IoC matches elevate incident severity</a:t>
            </a:r>
            <a:endParaRPr b="0" lang="en-CA" sz="14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Threat intelligence correlations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TI platforms map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Vulnerabilities in your environment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To active exploitation in the wild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If a vulnerability is trending in adversary operations, then risk escalates immediately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Content – Threat Indicators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/>
          </p:nvPr>
        </p:nvSpPr>
        <p:spPr>
          <a:xfrm>
            <a:off x="503640" y="10335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Exploit availability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CVEs with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Public PoC code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Active scanning by threat actors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Weaponized payloads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Represent significantly higher risk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Malicious domain/IP activity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Useful for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Detecting beaconing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Identifying botnet traffic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Detecting phishing and spoofing patterns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Content – Threat Indicators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/>
          </p:nvPr>
        </p:nvSpPr>
        <p:spPr>
          <a:xfrm>
            <a:off x="503640" y="10335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Privilege escalation patterns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Risk indicator for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Insider threat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Credential compromise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Malware payload execution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Threat indicators turn telemetry into interpreted security insights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Content – Control Effectiveness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/>
          </p:nvPr>
        </p:nvSpPr>
        <p:spPr>
          <a:xfrm>
            <a:off x="503640" y="10335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Must measure how well controls are performing, not just list them.</a:t>
            </a:r>
            <a:endParaRPr b="0" lang="en-CA" sz="24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Patching compliance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Broken down by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Severity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Asset class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Exposure level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Aging (how long outstanding)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 key systemic risk indicator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Content – Control Effectiveness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/>
          </p:nvPr>
        </p:nvSpPr>
        <p:spPr>
          <a:xfrm>
            <a:off x="503640" y="10335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MFA enrollment and enforcement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 crucial control for preventing credential compromise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Reports must show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MFA coverage (%) for privileged vs. non-privileged accounts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Exceptions and justifications</a:t>
            </a:r>
            <a:endParaRPr b="0" lang="en-CA" sz="14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Backup integrity rates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Key resilience risk metric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Successful restores vs failed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Corrupted backups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Outdated snapshots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Content – Control Effectiveness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/>
          </p:nvPr>
        </p:nvSpPr>
        <p:spPr>
          <a:xfrm>
            <a:off x="503640" y="10335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Incident response metrics: MTTD/MTTR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Reveal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Control performance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Team readiness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Detection quality</a:t>
            </a:r>
            <a:endParaRPr b="0" lang="en-CA" sz="14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Preventive and detective control test results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Includes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Vulnerability scans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Cloud security posture scans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Penetration test results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Configuration baseline checks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Control effectiveness differentiates controlled risk from uncontrolled risk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Remediation Recommendations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/>
          </p:nvPr>
        </p:nvSpPr>
        <p:spPr>
          <a:xfrm>
            <a:off x="503640" y="10335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Once risks and control gaps are identified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Technical reporting must guide what to do next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Recommendations must be actionable, prioritized, and aligned with business and risk appetite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Remediation recommendations should offer detailed guidance</a:t>
            </a:r>
            <a:endParaRPr b="0" lang="en-CA" sz="24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Apply specific patches or configuration changes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Examples: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Patch for CVE-2024-xxxxx affecting gateway services.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Disable legacy SSH ciphers.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Remove public ingress from testing VPCs.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Recommendations must include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Target systems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Expected impact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Test requirements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Roll out constraints or windows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Remediation Recommendations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/>
          </p:nvPr>
        </p:nvSpPr>
        <p:spPr>
          <a:xfrm>
            <a:off x="503640" y="10335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Increase logging granularity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Often necessary when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Current logs are insufficient for forensics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Threat behavior requires deeper observability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Cloud logs are missing key IAM or network events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Examples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Enable S3 data event logging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Expand Linux auditd scope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Increase retention windows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Remediation Recommendations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64" name="PlaceHolder 2"/>
          <p:cNvSpPr>
            <a:spLocks noGrp="1"/>
          </p:cNvSpPr>
          <p:nvPr>
            <p:ph/>
          </p:nvPr>
        </p:nvSpPr>
        <p:spPr>
          <a:xfrm>
            <a:off x="503640" y="10335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Update firewall rules, IAM policies, or network segmentation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Examples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Restrict service accounts to least privilege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Tighten outbound traffic rules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Segment workloads into separate subnets or security groups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Architectural-level remediation like segmentation significantly reduces blast radius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Implement new detection logic in SIEM or SOAR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Examples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Add correlation rules for privilege escalation chaining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Tune alert thresholds based on anomaly detection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Add automated containment routines (SOAR playbooks)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This is how organizations achieve adaptive detection and response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Remediation Recommendations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/>
          </p:nvPr>
        </p:nvSpPr>
        <p:spPr>
          <a:xfrm>
            <a:off x="503640" y="10335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Strengthen monitoring thresholds or add KRIs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Examples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Introduce new KRIs for IAM anomalies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Lower latency thresholds for critical services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Add capacity saturation KRIs to predict outages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Monitoring evolves with threat landscape and architecture maturity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Remediation Recommendations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/>
          </p:nvPr>
        </p:nvSpPr>
        <p:spPr>
          <a:xfrm>
            <a:off x="503640" y="10335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Re-architect components to reduce single points of failure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Examples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Add multi-region replication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Replace monolithic services with microservices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Introduce circuit breakers, retries, and backpressure mechanisms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Move stateful workloads to managed, replicated cloud components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Architecture recommendations often require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Longer timelines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Funding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Senior leadership approval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But they produce large reductions in systemic operational risk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Operational Metrics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70" name="PlaceHolder 2"/>
          <p:cNvSpPr>
            <a:spLocks noGrp="1"/>
          </p:cNvSpPr>
          <p:nvPr>
            <p:ph/>
          </p:nvPr>
        </p:nvSpPr>
        <p:spPr>
          <a:xfrm>
            <a:off x="503640" y="10335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Leading and lagging indicators of team performance, system reliability, and control effectiveness</a:t>
            </a:r>
            <a:endParaRPr b="0" lang="en-CA" sz="24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Change success rate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Low change success rate often correlates with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Poor deployment practices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Insufficient testing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Underlying architectural fragility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 high-quality risk report uses change metrics to highlight process risk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Operational Metrics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/>
          </p:nvPr>
        </p:nvSpPr>
        <p:spPr>
          <a:xfrm>
            <a:off x="503640" y="10335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MTTR / MTTD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MTTD (Mean Time to Detect): measures detection quality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MTTR (Mean Time to Recover): measures response effectiveness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Trends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Increasing MTTR indicates resilience degradation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Decreasing MTTD indicates improved detection from SIEM/SOAR</a:t>
            </a:r>
            <a:endParaRPr b="0" lang="en-CA" sz="14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Mean time between incidents (MTBI)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Low MTBI indicates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Chronic issues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Weak controls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Architectural inefficiencies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Process failures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MTBI helps identify fragile systems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Operational Metrics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74" name="PlaceHolder 2"/>
          <p:cNvSpPr>
            <a:spLocks noGrp="1"/>
          </p:cNvSpPr>
          <p:nvPr>
            <p:ph/>
          </p:nvPr>
        </p:nvSpPr>
        <p:spPr>
          <a:xfrm>
            <a:off x="503640" y="10335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SLA adherence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SLA breaches indicate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Operational instability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Insufficient capacity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Bottlenecks in infrastructure or process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SLA metrics are critical for customer-facing services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Vulnerability remediation time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Tracks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How fast teams respond to new vulnerabilities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Bottlenecks in patching workflow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Whether vulnerability backlog is growing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High remediation times often indicate: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Resource shortages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Overly manual processes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Competing priorities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Operational Metrics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/>
          </p:nvPr>
        </p:nvSpPr>
        <p:spPr>
          <a:xfrm>
            <a:off x="503640" y="10335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Capacity headroom metrics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Measure how close systems are to performance limits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CPU, memory, network saturation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Queue depth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Storage utilization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IOPS capacity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Low headroom = high operational risk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Operational Metrics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/>
          </p:nvPr>
        </p:nvSpPr>
        <p:spPr>
          <a:xfrm>
            <a:off x="503640" y="10335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Drift detection counts (IaC Drift)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Infrastructure drift introduces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Inconsistency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Security exposure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Configuration complexity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Compliance deviations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Frequent drift detection signals a need for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Stronger DevOps discipline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Better automation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Reduced manual intervention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10050840" cy="728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60" strike="noStrike" cap="all">
                <a:solidFill>
                  <a:srgbClr val="d1282e"/>
                </a:solidFill>
                <a:latin typeface="Leelawadee UI Semilight"/>
              </a:rPr>
              <a:t>Q&amp;A and open discussion</a:t>
            </a:r>
            <a:endParaRPr b="0" lang="en-CA" sz="3600" spc="-1" strike="noStrike">
              <a:latin typeface="Arial"/>
            </a:endParaRPr>
          </a:p>
        </p:txBody>
      </p:sp>
      <p:pic>
        <p:nvPicPr>
          <p:cNvPr id="380" name="Content Placeholder 2" descr=""/>
          <p:cNvPicPr/>
          <p:nvPr/>
        </p:nvPicPr>
        <p:blipFill>
          <a:blip r:embed="rId1"/>
          <a:stretch/>
        </p:blipFill>
        <p:spPr>
          <a:xfrm>
            <a:off x="1647360" y="1073160"/>
            <a:ext cx="8083440" cy="50518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170261</TotalTime>
  <Application>LibreOffice/7.3.4.2$Windows_X86_64 LibreOffice_project/728fec16bd5f605073805c3c9e7c4212a0120dc5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2016-09-10T10:34:19Z</dcterms:created>
  <dc:creator>Donis Marshall</dc:creator>
  <dc:description/>
  <dc:language>en-CA</dc:language>
  <cp:lastModifiedBy>Rod Davison</cp:lastModifiedBy>
  <cp:lastPrinted>2025-11-18T20:40:20Z</cp:lastPrinted>
  <dcterms:modified xsi:type="dcterms:W3CDTF">2025-12-18T21:28:00Z</dcterms:modified>
  <cp:revision>9200</cp:revision>
  <dc:subject>Risk Bootcamp</dc:subject>
  <dc:title>1. Technical Reporting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52</vt:r8>
  </property>
  <property fmtid="{D5CDD505-2E9C-101B-9397-08002B2CF9AE}" pid="3" name="PresentationFormat">
    <vt:lpwstr>Widescreen</vt:lpwstr>
  </property>
  <property fmtid="{D5CDD505-2E9C-101B-9397-08002B2CF9AE}" pid="4" name="Slides">
    <vt:r8>52</vt:r8>
  </property>
</Properties>
</file>