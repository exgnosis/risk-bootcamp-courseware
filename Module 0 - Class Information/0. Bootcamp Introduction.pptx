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  <Override PartName="/ppt/media/image5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54C4600-F6BC-48DB-81A5-8CC32384166E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https://www.ncsc.gov.uk/static-assets/documents/PwnedPasswordsTop100k.txt</a:t>
            </a: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A19BD24-97B8-41D0-AE07-AF28CD1C09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0283112-E5D7-4D9B-BDE8-8BE8DDFFFD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95D515-5846-45CC-987A-39CB956753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111A46-87E3-4AEE-991E-A1DAA077C1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CF47E4-9A12-44AA-B196-A674FE8A38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A0AAED-3A0A-45CE-91F1-A527882996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A960F8-A264-410C-A78C-5822452280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AB2834-7D5D-4875-85F1-73AE85ED11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505E7D-8811-49FF-BE5A-46EEF52AD7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5AFC95-D8AB-4E33-8082-07DED86AC7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CACBAD-6413-4579-86CC-033B9F5FD2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E6670C-B613-4AE2-8866-D62FA38452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5ECE0A-F69D-46D2-8268-5234704839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ED8BF8-BA2E-4856-BB0A-3A9F4721FF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6B7FB7-D906-4FFF-93A8-F947052C0D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6E6264-E343-4F46-A11F-E7EF731F3F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EECC4E-8A92-47A4-9216-6A28C9824D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6BF171-2A77-42CE-AA7B-DBFF745F14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398FB8F-382F-4850-B9CA-31B6C15F42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4D1DF4-3571-4D1A-B8D7-4971ADC7A8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4A0E2A-E0E5-4496-B1A8-AC2CC40C19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8BB0242-2268-4EAF-A3C7-C6E654082E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88BC0C-F4AD-41AD-8ACA-7A632C9714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6D4E1F-CE5F-4205-9A9C-259D6599DE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27122C-8955-4701-AD9B-85DE7FF9E8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792FB3-B3EB-4074-B9A6-5E58E44CCE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8B19CD-1CC1-4718-9B1D-4B38AA3D2E0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03BD28-19CE-41BE-935D-96113C488010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CB3EB15-E90E-4C05-A234-3266DC6AC7E8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B5A28F6-610B-4FE2-BDD6-C67F0B6F15F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D8F033B-60E0-4D6A-8879-F44E0F19870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119EE08-F6E7-4075-87B4-A023B785B0B4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A50D6A-8D20-448A-B31F-00E185C32D84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615466A-21B8-4A3E-B31E-54E756FCD1A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F2376E7-645B-4345-BDC1-22B0AA54BEA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43E0F2-679F-4822-83D2-7CD51F35D63B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50CE64B-E0CC-4116-8CB0-59418FB9062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46FBFF-5C7E-4701-B4D7-16490F75C4FD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91B117A-8494-4EEB-AB22-8C30E479552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A575041-D9D6-433E-9A67-22E672168F9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EA43FE9-F72C-4097-926C-B25193B0C4E0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B149E29-C381-489A-8B99-0ACE20D17108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8F71A20-B2E5-47A1-B34B-CCD578F121D1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24BDF33-EC0E-4E8A-8C9B-EFA54787EABA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80083CB-65CA-456E-9F84-B78CF41DF8CD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32E2DDB-45E2-46A6-AA98-75388125E2D9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4B6C90B-4948-4A20-BC44-8C58B8542764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783E125-F75D-4058-9953-43CCE6B13A9B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2E481A6-A288-4542-AA14-B69A1DCDB9DB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9DA0824-11A0-4A7B-9E0F-9DEECFD4A8D9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0DD40E5-A8F2-4D17-BF7F-8CAE44FC86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1F4AD31-2EE3-441D-83EF-4A3813ED7C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6CB2AE3-4FF5-40AF-A64B-66F142537E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14903FB-B1FF-4D69-AEAA-2E9EF09F8F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8584AE-00CF-42A1-B337-8628E301BC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2C4E98-0FD6-4D33-B804-B16ADC8B22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8CD5C4-94E9-4DAE-8B60-A887BE177A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0AB17F1-EBE9-4223-83EE-C57E1A652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0305EF-73F5-4979-987E-6D6AC5C44A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0FD273-6084-4E97-810E-0527BEC0AE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379412-AA52-471E-99F9-858351D1FF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811454C-51A3-4C15-B79C-B58798E288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A15E5D6-4730-4D3B-847F-1DD37F6104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283298C-18EE-49F3-82A1-134247390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A1299B4-BF2F-4D58-B339-B47988B1AF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7688971-7752-4E01-B27B-709AC1A177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9B04AF7-EEA8-4B9A-AEB7-3AAE34CBBE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8B7EF7B-5416-4D5B-8885-2923BDDDEB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55593C7-C934-4C5E-A6F6-4B852C8F05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E0C7081-89DE-4D57-BBA8-4B0E83D782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84F2CC-BFB0-4D90-87AE-5978FE2878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6471C36-3AB1-47A3-AEC0-05B224DF56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C8E5EDB-D337-4A62-B8F5-F55C8BBF57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C732C92-57C4-402F-BA22-2DE2DE889F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674D317A-6E39-458E-9E59-1E6771F0F3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6B7A90B7-6E64-4984-A4AC-3055962A1B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C4D36015-5230-4E50-B9F9-A10EE1E18D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3578A416-1D02-4498-A398-2DA812A280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D701EBF-3A3A-47F3-ACE1-0F55F55662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0FA500A-3AF2-43DB-9C5D-3F0FABC104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05DA406-2407-4CC3-B529-5D8D8CF575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A355F3A-0039-4133-BE80-5ACED3D0CC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6FAB91A8-F346-4BC5-BDC6-38FF105FF6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E0F64CE2-AAEC-4145-83A5-CAA8D2FC90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E1DC1F1B-C424-4C9D-9656-6C301B95E0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A13ED45-49E4-48D2-8247-1711FFCEF3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BA0828E9-5C88-45A9-BDBD-DBF600F04181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94B8213F-007C-475C-A806-20D81C6D8B21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6BCAB2E3-7FB7-4261-BAFE-956F95A933F2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90DA9D4F-29A6-4D4F-8116-E5D16C877918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332E22E9-E8A7-4CE1-835F-2FC99D205F7D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5707A00B-485C-4DDE-94ED-9E059E4B2B0D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31BFBC78-AE8B-4002-8050-703E5FFFEFD9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0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introduction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Welcome to the Risk and Resiliency bootcamp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Before we jump into the material, here’s a brief orientation: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Introduction of the instructor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Introduction of the students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Class materials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Outline of the bootcamp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Operational protocols for the camp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Any other housekeeping items we need to address</a:t>
            </a: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Rod Davison - instructor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23" name="Content Placeholder 6" descr="A picture containing person, person, wall, indoor&#10;&#10;Description automatically generated"/>
          <p:cNvPicPr/>
          <p:nvPr/>
        </p:nvPicPr>
        <p:blipFill>
          <a:blip r:embed="rId1"/>
          <a:srcRect l="1972" t="0" r="1748" b="2705"/>
          <a:stretch/>
        </p:blipFill>
        <p:spPr>
          <a:xfrm>
            <a:off x="7128720" y="1447920"/>
            <a:ext cx="3615120" cy="3653280"/>
          </a:xfrm>
          <a:prstGeom prst="rect">
            <a:avLst/>
          </a:prstGeom>
          <a:ln w="0">
            <a:noFill/>
          </a:ln>
        </p:spPr>
      </p:pic>
      <p:sp>
        <p:nvSpPr>
          <p:cNvPr id="324" name="Content Placeholder 3"/>
          <p:cNvSpPr/>
          <p:nvPr/>
        </p:nvSpPr>
        <p:spPr>
          <a:xfrm>
            <a:off x="677160" y="1238400"/>
            <a:ext cx="5259960" cy="50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Fifty-three years of IT-related experience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Academic</a:t>
            </a:r>
            <a:endParaRPr b="0" lang="en-CA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Theoretical math, cognitive science, psychology/sociology and linguistics/anthropology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Work</a:t>
            </a:r>
            <a:endParaRPr b="0" lang="en-CA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Artificial Intelligence R&amp;D and management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Quality engineering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Market research, social research design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Business analysis, project management, and project forensics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Consulting and training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Clients</a:t>
            </a:r>
            <a:endParaRPr b="0" lang="en-CA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Banking and finance (Wall Street)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Insurance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Engineering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Defence contractors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Fortune 100 companies</a:t>
            </a:r>
            <a:endParaRPr b="0" lang="en-CA" sz="1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solidFill>
                  <a:srgbClr val="000000"/>
                </a:solidFill>
                <a:latin typeface="Calibri"/>
              </a:rPr>
              <a:t>US and Canadian government agencies</a:t>
            </a:r>
            <a:endParaRPr b="0" lang="en-CA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Introduce yourself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Content Placeholder 4"/>
          <p:cNvSpPr/>
          <p:nvPr/>
        </p:nvSpPr>
        <p:spPr>
          <a:xfrm>
            <a:off x="677160" y="1238400"/>
            <a:ext cx="5259960" cy="39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Please introduce yourself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1. The name you would prefer to be used in class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2. Your technical background and the skill sets you are bringing to class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3. Your experience with risk and resilience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Calibri"/>
              </a:rPr>
              <a:t>4. Any specific goals or objectives for the class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</p:txBody>
      </p:sp>
      <p:pic>
        <p:nvPicPr>
          <p:cNvPr id="327" name="" descr=""/>
          <p:cNvPicPr/>
          <p:nvPr/>
        </p:nvPicPr>
        <p:blipFill>
          <a:blip r:embed="rId1"/>
          <a:stretch/>
        </p:blipFill>
        <p:spPr>
          <a:xfrm>
            <a:off x="7588440" y="1439280"/>
            <a:ext cx="3465360" cy="4042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Class repository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https://github.com/ExgnosisClasses/2529-Risk-Resiliency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This repository will contain all the material used in class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Available until Jan 30, 2026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It will be updated regularly as new material is introduced during the class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Intended to be a working repository for the class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It will contain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slides for the class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All of the case study and exercise materials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Resources and publications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Reference and reading list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course Structure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course is divided into sections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Each section is roughly one week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However, some sections may be a bit shorter or longer than one week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main risk sections are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1: Risk Foundations and Technology Context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2: Core Technology Operations and Controls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3: Risk Identification and Classification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4: People, Process, and Systems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5: Risk Assessment and Analysis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6: Risk Response and Monitoring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7: Reporting and Governance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course Structure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main resiliency sections are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1: Risk Foundations and Technology Context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2: Core Technology Operations and Controls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3: Risk Identification and Classification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4: Foundations of Resilience &amp; Continuity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5: Domain-Specific Resilience Strategies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6: Testing, Exercising &amp; Crisis Management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Module 7: Integration, Maturity Planning 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course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class is an analytic workshop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means the focus is on developing the analytical skills you will need on the job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Roughly the last half of the course will be divided between classroom sessions and on-site mentoring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There will be a capstone project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will allow you to apply what you have learned in class in an integrated manner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format and content will be finalized in the early part of the class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content is aligned to support your certification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However, this is not an exam prep course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objective is to prepare you for the workplace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course will cover more than what is required for certification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bootcamp is a foundation for your certification preparation 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course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Each module will be composed of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Lectures: Minimal time will be spent just listening</a:t>
            </a:r>
            <a:r>
              <a:rPr b="0" lang="en-CA" sz="1800" spc="-1" strike="noStrike">
                <a:latin typeface="Nirmala UI Semilight"/>
              </a:rPr>
              <a:t>	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Discussions:  These will be guided discussions about the material presented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Participation in these will be considered in your evaluation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purpose of the discussion is to ensure that you understand how to apply the material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Readings: These are papers and reports that are relevant to risk and resiliency in the finance world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Will often form the basis for class discussions and exercises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Case studies: You will analyze and report on real-world case studies during class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Exercises: Where you will apply the class content to a practical hands-on problem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99760" y="14292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course protocols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63332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Participation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Your participation is expected and required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Feel free to ask questions or speak up at any time during the class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There will be check-ins at random points where the instructor will ask you to confirm how well you understand the material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Behavior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Be respectful and courteous to your classmates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Be on time for class and return promptly from breaks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If you will be absent, please let the instructor know in advance whenever possible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Have fun!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are going to learn a lot more if you enjoy the class.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  <a:p>
            <a:endParaRPr b="0" lang="en-CA" sz="2400" spc="-1" strike="noStrike">
              <a:latin typeface="Nirmala UI Semilight"/>
            </a:endParaRPr>
          </a:p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41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165647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2025-10-02T13:08:46Z</cp:lastPrinted>
  <dcterms:modified xsi:type="dcterms:W3CDTF">2025-12-16T13:35:59Z</dcterms:modified>
  <cp:revision>8986</cp:revision>
  <dc:subject>Risk/Resiliency Bootcamp</dc:subject>
  <dc:title>1.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